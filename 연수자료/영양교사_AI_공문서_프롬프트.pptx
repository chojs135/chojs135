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57a6248-aa24-0f67-2e5f-df91b8dcc0e9}">
          <p14:sldIdLst>
            <p14:sldId id="256"/>
          </p14:sldIdLst>
        </p14:section>
        <p14:section name="프롬프트 기본" id="{a68f128e-bfd7-e820-62fa-3ce31c987f07}">
          <p14:sldIdLst>
            <p14:sldId id="257"/>
          </p14:sldIdLst>
        </p14:section>
        <p14:section name="실전 프롬프트" id="{e7b3c988-5c09-da88-8097-c1575e2315ba}">
          <p14:sldIdLst>
            <p14:sldId id="258"/>
            <p14:sldId id="259"/>
            <p14:sldId id="260"/>
            <p14:sldId id="261"/>
            <p14:sldId id="262"/>
          </p14:sldIdLst>
        </p14:section>
        <p14:section name="유의사항" id="{96d2903b-7d1a-0dfd-9716-52c3c286acd4}">
          <p14:sldIdLst>
            <p14:sldId id="263"/>
            <p14:sldId id="264"/>
            <p14:sldId id="265"/>
          </p14:sldIdLst>
        </p14:section>
        <p14:section name="정리" id="{3196221a-bcdc-7834-0a75-08144c38f409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영양교사 업무에서 자주 쓰는 공문서 세 가지를 AI로 초안 잡는 방법을 다룹니다. 핵심은 AI에게 무엇을, 어떤 모양으로, 무엇은 하지 말라고 정확히 알려 주는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역할·상황·할 일만 쓰는 경우가 많은데, 공문서는 형식과 조건이 결과를 좌우합니다. 형식은 우리 학교 공문 모양을 그대로 말해 주면 되고, 조건에는 지어내면 안 되는 것(예산, 인원, 법 조항)을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제미나이 원본 예시는 "격식 있는 문체로"까지만 요구했습니다. 실제 공문서는 항목 기호, 날짜 표기, 표 구성이 정해져 있으니 그걸 적어 주면 고칠 일이 크게 줄어듭니다. 예산과 인원은 반드시 비워 두게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처음부터 완벽한 프롬프트를 쓰려고 하기보다, 초안을 받은 뒤 한 가지씩 고쳐 달라고 하는 편이 빠릅니다. 같은 대화창에서 이어서 시키면 앞의 내용을 기억합니다.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 예시는 "3문단 내외로 요약"이라고 했는데, 구성 단계가 4개라 문단 수와 맞지 않았습니다. 분량은 문단 수 대신 A4 한 장처럼 결과물 기준으로 주는 것이 정확합니다.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번역본은 반드시 해당 언어를 아는 분(다문화 언어강사 등)께 확인을 받고 발송하세요. 음식 이름은 번역이 어색한 경우가 많아 한국어를 함께 적게 하는 것이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 예시는 회의 내용 없이 "결정된 주요 내용은 원안 동의"라고만 했습니다. 이러면 AI가 위원 발언을 창작합니다. 또 보고 안건(납품업체 평가 결과 보고)은 의결 대상이 아니므로 "원안 동의"가 아니라 "보고 접수"로 정리하는 것이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개인 계정의 무료 AI는 입력 내용이 사람 검토나 학습에 쓰일 수 있습니다. 학교·교육청이 제공하는 계정이나 정책이 있으면 그 안내를 따르세요. 실명은 완성본을 한글 파일로 옮긴 뒤에 직접 바꿔 넣습니다.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AI는 법 조항 번호나 기준 수치를 자신 있게 틀리게 쓰는 경우가 있습니다. 특히 조항 번호는 법 개정으로 바뀌기도 하니 원문을 꼭 확인하세요. 마지막의 확인용 한마디를 붙이면 검토할 곳을 AI가 먼저 표시해 줍니다. 다만 표시하지 않은 곳이 틀릴 수도 있으니 최종 확인은 사람이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초안은 시간을 줄여 주지만, 학교마다 다른 일정·예산·학생 특성은 모릅니다. 가운데 검토 단계가 가장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연수를 마무리하며 이 체크리스트를 출력해 책상에 두고 쓰시도록 안내하면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영양교사 AI 공문서 작성 연수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영양교사를 위한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공문서 작성 프롬프트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계획서 · 가정통신문 · 회의록, 이렇게 시키면 초안이 달라집니다</a:t>
            </a:r>
            <a:endParaRPr lang="en-US" sz="2000" dirty="0"/>
          </a:p>
        </p:txBody>
      </p:sp>
      <p:sp>
        <p:nvSpPr>
          <p:cNvPr id="4" name="cover circle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cov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1294790"/>
            <a:ext cx="427939" cy="4279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좋은 프롬프트는 다섯 가지를 알려 줍니다</a:t>
            </a:r>
            <a:endParaRPr lang="en-US" sz="3000" dirty="0"/>
          </a:p>
        </p:txBody>
      </p:sp>
      <p:sp>
        <p:nvSpPr>
          <p:cNvPr id="3" name="element card 1"/>
          <p:cNvSpPr/>
          <p:nvPr/>
        </p:nvSpPr>
        <p:spPr>
          <a:xfrm>
            <a:off x="548640" y="1417320"/>
            <a:ext cx="2075688" cy="4206240"/>
          </a:xfrm>
          <a:prstGeom prst="roundRect">
            <a:avLst>
              <a:gd name="adj" fmla="val 6608"/>
            </a:avLst>
          </a:prstGeom>
          <a:solidFill>
            <a:schemeClr val="bg2"/>
          </a:solidFill>
          <a:ln/>
        </p:spPr>
      </p:sp>
      <p:sp>
        <p:nvSpPr>
          <p:cNvPr id="4" name="element 1 circle"/>
          <p:cNvSpPr/>
          <p:nvPr/>
        </p:nvSpPr>
        <p:spPr>
          <a:xfrm>
            <a:off x="77724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elemen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56232"/>
            <a:ext cx="356616" cy="356616"/>
          </a:xfrm>
          <a:prstGeom prst="rect">
            <a:avLst/>
          </a:prstGeom>
        </p:spPr>
      </p:pic>
      <p:sp>
        <p:nvSpPr>
          <p:cNvPr id="6" name="element name 1"/>
          <p:cNvSpPr txBox="1"/>
          <p:nvPr/>
        </p:nvSpPr>
        <p:spPr>
          <a:xfrm>
            <a:off x="777240" y="2560320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역할</a:t>
            </a:r>
            <a:endParaRPr lang="en-US" sz="2200" dirty="0"/>
          </a:p>
        </p:txBody>
      </p:sp>
      <p:sp>
        <p:nvSpPr>
          <p:cNvPr id="7" name="element desc 1"/>
          <p:cNvSpPr txBox="1"/>
          <p:nvPr/>
        </p:nvSpPr>
        <p:spPr>
          <a:xfrm>
            <a:off x="777240" y="3063240"/>
            <a:ext cx="1618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누구로서 쓰는지</a:t>
            </a:r>
            <a:endParaRPr lang="en-US" sz="1400" dirty="0"/>
          </a:p>
        </p:txBody>
      </p:sp>
      <p:sp>
        <p:nvSpPr>
          <p:cNvPr id="8" name="element example 1"/>
          <p:cNvSpPr txBox="1"/>
          <p:nvPr/>
        </p:nvSpPr>
        <p:spPr>
          <a:xfrm>
            <a:off x="777240" y="3657600"/>
            <a:ext cx="1618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예) 너는 초등학교 영양교사야</a:t>
            </a:r>
            <a:endParaRPr lang="en-US" sz="1600" dirty="0"/>
          </a:p>
        </p:txBody>
      </p:sp>
      <p:sp>
        <p:nvSpPr>
          <p:cNvPr id="9" name="element card 2"/>
          <p:cNvSpPr/>
          <p:nvPr/>
        </p:nvSpPr>
        <p:spPr>
          <a:xfrm>
            <a:off x="2807208" y="1417320"/>
            <a:ext cx="2075688" cy="4206240"/>
          </a:xfrm>
          <a:prstGeom prst="roundRect">
            <a:avLst>
              <a:gd name="adj" fmla="val 6608"/>
            </a:avLst>
          </a:prstGeom>
          <a:solidFill>
            <a:schemeClr val="bg2"/>
          </a:solidFill>
          <a:ln/>
        </p:spPr>
      </p:sp>
      <p:sp>
        <p:nvSpPr>
          <p:cNvPr id="10" name="element 2 circle"/>
          <p:cNvSpPr/>
          <p:nvPr/>
        </p:nvSpPr>
        <p:spPr>
          <a:xfrm>
            <a:off x="3035808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elemen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856232"/>
            <a:ext cx="356616" cy="356616"/>
          </a:xfrm>
          <a:prstGeom prst="rect">
            <a:avLst/>
          </a:prstGeom>
        </p:spPr>
      </p:pic>
      <p:sp>
        <p:nvSpPr>
          <p:cNvPr id="12" name="element name 2"/>
          <p:cNvSpPr txBox="1"/>
          <p:nvPr/>
        </p:nvSpPr>
        <p:spPr>
          <a:xfrm>
            <a:off x="3035808" y="2560320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상황</a:t>
            </a:r>
            <a:endParaRPr lang="en-US" sz="2200" dirty="0"/>
          </a:p>
        </p:txBody>
      </p:sp>
      <p:sp>
        <p:nvSpPr>
          <p:cNvPr id="13" name="element desc 2"/>
          <p:cNvSpPr txBox="1"/>
          <p:nvPr/>
        </p:nvSpPr>
        <p:spPr>
          <a:xfrm>
            <a:off x="3035808" y="3063240"/>
            <a:ext cx="1618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언제, 누구에게</a:t>
            </a:r>
            <a:endParaRPr lang="en-US" sz="1400" dirty="0"/>
          </a:p>
        </p:txBody>
      </p:sp>
      <p:sp>
        <p:nvSpPr>
          <p:cNvPr id="14" name="element example 2"/>
          <p:cNvSpPr txBox="1"/>
          <p:nvPr/>
        </p:nvSpPr>
        <p:spPr>
          <a:xfrm>
            <a:off x="3035808" y="3657600"/>
            <a:ext cx="1618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예) 2026. 5. 둘째 주, 1~2학년 학부모</a:t>
            </a:r>
            <a:endParaRPr lang="en-US" sz="1600" dirty="0"/>
          </a:p>
        </p:txBody>
      </p:sp>
      <p:sp>
        <p:nvSpPr>
          <p:cNvPr id="15" name="element card 3"/>
          <p:cNvSpPr/>
          <p:nvPr/>
        </p:nvSpPr>
        <p:spPr>
          <a:xfrm>
            <a:off x="5065776" y="1417320"/>
            <a:ext cx="2075688" cy="4206240"/>
          </a:xfrm>
          <a:prstGeom prst="roundRect">
            <a:avLst>
              <a:gd name="adj" fmla="val 6608"/>
            </a:avLst>
          </a:prstGeom>
          <a:solidFill>
            <a:schemeClr val="bg2"/>
          </a:solidFill>
          <a:ln/>
        </p:spPr>
      </p:sp>
      <p:sp>
        <p:nvSpPr>
          <p:cNvPr id="16" name="element 3 circle"/>
          <p:cNvSpPr/>
          <p:nvPr/>
        </p:nvSpPr>
        <p:spPr>
          <a:xfrm>
            <a:off x="5294376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elemen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8968" y="1856232"/>
            <a:ext cx="356616" cy="356616"/>
          </a:xfrm>
          <a:prstGeom prst="rect">
            <a:avLst/>
          </a:prstGeom>
        </p:spPr>
      </p:pic>
      <p:sp>
        <p:nvSpPr>
          <p:cNvPr id="18" name="element name 3"/>
          <p:cNvSpPr txBox="1"/>
          <p:nvPr/>
        </p:nvSpPr>
        <p:spPr>
          <a:xfrm>
            <a:off x="5294376" y="2560320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할 일</a:t>
            </a:r>
            <a:endParaRPr lang="en-US" sz="2200" dirty="0"/>
          </a:p>
        </p:txBody>
      </p:sp>
      <p:sp>
        <p:nvSpPr>
          <p:cNvPr id="19" name="element desc 3"/>
          <p:cNvSpPr txBox="1"/>
          <p:nvPr/>
        </p:nvSpPr>
        <p:spPr>
          <a:xfrm>
            <a:off x="5294376" y="3063240"/>
            <a:ext cx="1618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무엇을 써야 하나</a:t>
            </a:r>
            <a:endParaRPr lang="en-US" sz="1400" dirty="0"/>
          </a:p>
        </p:txBody>
      </p:sp>
      <p:sp>
        <p:nvSpPr>
          <p:cNvPr id="20" name="element example 3"/>
          <p:cNvSpPr txBox="1"/>
          <p:nvPr/>
        </p:nvSpPr>
        <p:spPr>
          <a:xfrm>
            <a:off x="5294376" y="3657600"/>
            <a:ext cx="1618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예) 운영 계획서 초안을 써 줘</a:t>
            </a:r>
            <a:endParaRPr lang="en-US" sz="1600" dirty="0"/>
          </a:p>
        </p:txBody>
      </p:sp>
      <p:sp>
        <p:nvSpPr>
          <p:cNvPr id="21" name="element card 4"/>
          <p:cNvSpPr/>
          <p:nvPr/>
        </p:nvSpPr>
        <p:spPr>
          <a:xfrm>
            <a:off x="7324344" y="1417320"/>
            <a:ext cx="2075688" cy="4206240"/>
          </a:xfrm>
          <a:prstGeom prst="roundRect">
            <a:avLst>
              <a:gd name="adj" fmla="val 6608"/>
            </a:avLst>
          </a:prstGeom>
          <a:solidFill>
            <a:schemeClr val="bg2"/>
          </a:solidFill>
          <a:ln/>
        </p:spPr>
      </p:sp>
      <p:sp>
        <p:nvSpPr>
          <p:cNvPr id="22" name="element 4 circle"/>
          <p:cNvSpPr/>
          <p:nvPr/>
        </p:nvSpPr>
        <p:spPr>
          <a:xfrm>
            <a:off x="7552944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elemen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1856232"/>
            <a:ext cx="356616" cy="356616"/>
          </a:xfrm>
          <a:prstGeom prst="rect">
            <a:avLst/>
          </a:prstGeom>
        </p:spPr>
      </p:pic>
      <p:sp>
        <p:nvSpPr>
          <p:cNvPr id="24" name="element name 4"/>
          <p:cNvSpPr txBox="1"/>
          <p:nvPr/>
        </p:nvSpPr>
        <p:spPr>
          <a:xfrm>
            <a:off x="7552944" y="2560320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형식</a:t>
            </a:r>
            <a:endParaRPr lang="en-US" sz="2200" dirty="0"/>
          </a:p>
        </p:txBody>
      </p:sp>
      <p:sp>
        <p:nvSpPr>
          <p:cNvPr id="25" name="element desc 4"/>
          <p:cNvSpPr txBox="1"/>
          <p:nvPr/>
        </p:nvSpPr>
        <p:spPr>
          <a:xfrm>
            <a:off x="7552944" y="3063240"/>
            <a:ext cx="1618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어떤 모양으로</a:t>
            </a:r>
            <a:endParaRPr lang="en-US" sz="1400" dirty="0"/>
          </a:p>
        </p:txBody>
      </p:sp>
      <p:sp>
        <p:nvSpPr>
          <p:cNvPr id="26" name="element example 4"/>
          <p:cNvSpPr txBox="1"/>
          <p:nvPr/>
        </p:nvSpPr>
        <p:spPr>
          <a:xfrm>
            <a:off x="7552944" y="3657600"/>
            <a:ext cx="1618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예) 개조식, 1. → 가. → 1), 활동은 표로</a:t>
            </a:r>
            <a:endParaRPr lang="en-US" sz="1600" dirty="0"/>
          </a:p>
        </p:txBody>
      </p:sp>
      <p:sp>
        <p:nvSpPr>
          <p:cNvPr id="27" name="element card 5"/>
          <p:cNvSpPr/>
          <p:nvPr/>
        </p:nvSpPr>
        <p:spPr>
          <a:xfrm>
            <a:off x="9582912" y="1417320"/>
            <a:ext cx="2075688" cy="4206240"/>
          </a:xfrm>
          <a:prstGeom prst="roundRect">
            <a:avLst>
              <a:gd name="adj" fmla="val 6608"/>
            </a:avLst>
          </a:prstGeom>
          <a:solidFill>
            <a:schemeClr val="accent5"/>
          </a:solidFill>
          <a:ln/>
        </p:spPr>
      </p:sp>
      <p:sp>
        <p:nvSpPr>
          <p:cNvPr id="28" name="element 5 circle"/>
          <p:cNvSpPr/>
          <p:nvPr/>
        </p:nvSpPr>
        <p:spPr>
          <a:xfrm>
            <a:off x="9811512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element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6104" y="1856232"/>
            <a:ext cx="356616" cy="356616"/>
          </a:xfrm>
          <a:prstGeom prst="rect">
            <a:avLst/>
          </a:prstGeom>
        </p:spPr>
      </p:pic>
      <p:sp>
        <p:nvSpPr>
          <p:cNvPr id="30" name="element name 5"/>
          <p:cNvSpPr txBox="1"/>
          <p:nvPr/>
        </p:nvSpPr>
        <p:spPr>
          <a:xfrm>
            <a:off x="9811512" y="2560320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조건</a:t>
            </a:r>
            <a:endParaRPr lang="en-US" sz="2200" dirty="0"/>
          </a:p>
        </p:txBody>
      </p:sp>
      <p:sp>
        <p:nvSpPr>
          <p:cNvPr id="31" name="element desc 5"/>
          <p:cNvSpPr txBox="1"/>
          <p:nvPr/>
        </p:nvSpPr>
        <p:spPr>
          <a:xfrm>
            <a:off x="9811512" y="3063240"/>
            <a:ext cx="1618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하지 말아야 할 것</a:t>
            </a:r>
            <a:endParaRPr lang="en-US" sz="1400" dirty="0"/>
          </a:p>
        </p:txBody>
      </p:sp>
      <p:sp>
        <p:nvSpPr>
          <p:cNvPr id="32" name="element example 5"/>
          <p:cNvSpPr txBox="1"/>
          <p:nvPr/>
        </p:nvSpPr>
        <p:spPr>
          <a:xfrm>
            <a:off x="9811512" y="3657600"/>
            <a:ext cx="1618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예) 숫자는 지어내지 말 것</a:t>
            </a:r>
            <a:endParaRPr lang="en-US" sz="1600" dirty="0"/>
          </a:p>
        </p:txBody>
      </p:sp>
      <p:sp>
        <p:nvSpPr>
          <p:cNvPr id="33" name="five tip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특히 마지막 "조건"이 AI의 거짓말(지어낸 숫자·법 조항)을 막아 줍니다.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① 식생활·영양교육 운영 계획서</a:t>
            </a:r>
            <a:endParaRPr lang="en-US" sz="3000" dirty="0"/>
          </a:p>
        </p:txBody>
      </p:sp>
      <p:sp>
        <p:nvSpPr>
          <p:cNvPr id="3" name="prompt box"/>
          <p:cNvSpPr/>
          <p:nvPr/>
        </p:nvSpPr>
        <p:spPr>
          <a:xfrm>
            <a:off x="548640" y="1325880"/>
            <a:ext cx="676656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prompt label"/>
          <p:cNvSpPr txBox="1"/>
          <p:nvPr/>
        </p:nvSpPr>
        <p:spPr>
          <a:xfrm>
            <a:off x="777240" y="1463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프롬프트</a:t>
            </a:r>
            <a:endParaRPr lang="en-US" sz="1200" dirty="0"/>
          </a:p>
        </p:txBody>
      </p:sp>
      <p:sp>
        <p:nvSpPr>
          <p:cNvPr id="5" name="prompt text"/>
          <p:cNvSpPr txBox="1"/>
          <p:nvPr/>
        </p:nvSpPr>
        <p:spPr>
          <a:xfrm>
            <a:off x="777240" y="18288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너는 초등학교 영양교사야. '채소 섭취 늘리기 주간' 운영 계획서 초안을 써 줘.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[기간]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2026. 5. 11.(월) ~ 5. 15.(금)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[대상]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전교생(약 ○○○명)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[포함]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목적, 방침, 세부 운영 계획, 주요 활동(잔반 줄이기 이벤트, 학년별 영양 퀴즈), 가정 연계 방안, 기대 효과, 행정 사항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[형식]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공문서 개조식, 항목 기호는 1. → 가. → 1) → 가) 순서, 주요 활동은 표(활동명/대상/일정/담당)로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[조건]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예산·인원 등 숫자는 지어내지 말고 ○○로 비워 둘 것</a:t>
            </a:r>
            <a:endParaRPr lang="en-US" sz="1700" dirty="0"/>
          </a:p>
        </p:txBody>
      </p:sp>
      <p:sp>
        <p:nvSpPr>
          <p:cNvPr id="6" name="points title"/>
          <p:cNvSpPr txBox="1"/>
          <p:nvPr/>
        </p:nvSpPr>
        <p:spPr>
          <a:xfrm>
            <a:off x="768096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이렇게 바꿨어요</a:t>
            </a:r>
            <a:endParaRPr lang="en-US" sz="1800" dirty="0"/>
          </a:p>
        </p:txBody>
      </p:sp>
      <p:sp>
        <p:nvSpPr>
          <p:cNvPr id="7" name="point num 1"/>
          <p:cNvSpPr/>
          <p:nvPr/>
        </p:nvSpPr>
        <p:spPr>
          <a:xfrm>
            <a:off x="7680960" y="193852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point num text 1"/>
          <p:cNvSpPr txBox="1"/>
          <p:nvPr/>
        </p:nvSpPr>
        <p:spPr>
          <a:xfrm>
            <a:off x="768096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point text 1"/>
          <p:cNvSpPr txBox="1"/>
          <p:nvPr/>
        </p:nvSpPr>
        <p:spPr>
          <a:xfrm>
            <a:off x="8229600" y="187452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날짜는 공문서 표기로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"2026. 5. 11.(월)"처럼 써 주면 AI도 그 형식을 따릅니다.</a:t>
            </a:r>
            <a:endParaRPr lang="en-US" sz="1500" dirty="0"/>
          </a:p>
        </p:txBody>
      </p:sp>
      <p:sp>
        <p:nvSpPr>
          <p:cNvPr id="10" name="point num 2"/>
          <p:cNvSpPr/>
          <p:nvPr/>
        </p:nvSpPr>
        <p:spPr>
          <a:xfrm>
            <a:off x="7680960" y="31272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point num text 2"/>
          <p:cNvSpPr txBox="1"/>
          <p:nvPr/>
        </p:nvSpPr>
        <p:spPr>
          <a:xfrm>
            <a:off x="768096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point text 2"/>
          <p:cNvSpPr txBox="1"/>
          <p:nvPr/>
        </p:nvSpPr>
        <p:spPr>
          <a:xfrm>
            <a:off x="8229600" y="30632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항목 기호를 지정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 → 가. → 1) → 가) 순서를 알려 주면 바로 결재용 모양이 나옵니다.</a:t>
            </a:r>
            <a:endParaRPr lang="en-US" sz="1500" dirty="0"/>
          </a:p>
        </p:txBody>
      </p:sp>
      <p:sp>
        <p:nvSpPr>
          <p:cNvPr id="13" name="point num 3"/>
          <p:cNvSpPr/>
          <p:nvPr/>
        </p:nvSpPr>
        <p:spPr>
          <a:xfrm>
            <a:off x="7680960" y="431596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point num text 3"/>
          <p:cNvSpPr txBox="1"/>
          <p:nvPr/>
        </p:nvSpPr>
        <p:spPr>
          <a:xfrm>
            <a:off x="768096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point text 3"/>
          <p:cNvSpPr txBox="1"/>
          <p:nvPr/>
        </p:nvSpPr>
        <p:spPr>
          <a:xfrm>
            <a:off x="8229600" y="425196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숫자는 비워 두기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AI는 그럴듯한 예산·인원을 지어냅니다. ○○로 비우고 직접 채웁니다.</a:t>
            </a:r>
            <a:endParaRPr lang="en-US" sz="1500" dirty="0"/>
          </a:p>
        </p:txBody>
      </p:sp>
      <p:sp>
        <p:nvSpPr>
          <p:cNvPr id="16" name="point num 4"/>
          <p:cNvSpPr/>
          <p:nvPr/>
        </p:nvSpPr>
        <p:spPr>
          <a:xfrm>
            <a:off x="7680960" y="550468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point num text 4"/>
          <p:cNvSpPr txBox="1"/>
          <p:nvPr/>
        </p:nvSpPr>
        <p:spPr>
          <a:xfrm>
            <a:off x="7680960" y="5504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point text 4"/>
          <p:cNvSpPr txBox="1"/>
          <p:nvPr/>
        </p:nvSpPr>
        <p:spPr>
          <a:xfrm>
            <a:off x="8229600" y="544068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활동은 표로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활동명·대상·일정·담당 표가 있으면 실행 계획이 한눈에 보입니다.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초안이 나오면, 한 번 더 시켜서 다듬습니다</a:t>
            </a:r>
            <a:endParaRPr lang="en-US" sz="3000" dirty="0"/>
          </a:p>
        </p:txBody>
      </p:sp>
      <p:sp>
        <p:nvSpPr>
          <p:cNvPr id="3" name="followup card 1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followup 1 circle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followu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766621"/>
            <a:ext cx="261518" cy="261518"/>
          </a:xfrm>
          <a:prstGeom prst="rect">
            <a:avLst/>
          </a:prstGeom>
        </p:spPr>
      </p:pic>
      <p:sp>
        <p:nvSpPr>
          <p:cNvPr id="6" name="followup title 1"/>
          <p:cNvSpPr txBox="1"/>
          <p:nvPr/>
        </p:nvSpPr>
        <p:spPr>
          <a:xfrm>
            <a:off x="1508760" y="164592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학년군별로 나누기</a:t>
            </a:r>
            <a:endParaRPr lang="en-US" sz="1700" dirty="0"/>
          </a:p>
        </p:txBody>
      </p:sp>
      <p:sp>
        <p:nvSpPr>
          <p:cNvPr id="7" name="followup text 1"/>
          <p:cNvSpPr txBox="1"/>
          <p:nvPr/>
        </p:nvSpPr>
        <p:spPr>
          <a:xfrm>
            <a:off x="822960" y="228600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“주요 활동을 저학년(1~2), 중학년(3~4), 고학년(5~6)으로 나눠서 수준에 맞게 다시 써 줘.”</a:t>
            </a:r>
            <a:endParaRPr lang="en-US" sz="1700" dirty="0"/>
          </a:p>
        </p:txBody>
      </p:sp>
      <p:sp>
        <p:nvSpPr>
          <p:cNvPr id="8" name="followup card 2"/>
          <p:cNvSpPr/>
          <p:nvPr/>
        </p:nvSpPr>
        <p:spPr>
          <a:xfrm>
            <a:off x="6172200" y="1371600"/>
            <a:ext cx="5440680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followup 2 circle"/>
          <p:cNvSpPr/>
          <p:nvPr/>
        </p:nvSpPr>
        <p:spPr>
          <a:xfrm>
            <a:off x="6446520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followu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221" y="1766621"/>
            <a:ext cx="261518" cy="261518"/>
          </a:xfrm>
          <a:prstGeom prst="rect">
            <a:avLst/>
          </a:prstGeom>
        </p:spPr>
      </p:pic>
      <p:sp>
        <p:nvSpPr>
          <p:cNvPr id="11" name="followup title 2"/>
          <p:cNvSpPr txBox="1"/>
          <p:nvPr/>
        </p:nvSpPr>
        <p:spPr>
          <a:xfrm>
            <a:off x="7132320" y="164592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일정표 만들기</a:t>
            </a:r>
            <a:endParaRPr lang="en-US" sz="1700" dirty="0"/>
          </a:p>
        </p:txBody>
      </p:sp>
      <p:sp>
        <p:nvSpPr>
          <p:cNvPr id="12" name="followup text 2"/>
          <p:cNvSpPr txBox="1"/>
          <p:nvPr/>
        </p:nvSpPr>
        <p:spPr>
          <a:xfrm>
            <a:off x="6446520" y="228600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“5일 동안의 일별 운영 일정을 시간표 모양의 표로 만들어 줘.”</a:t>
            </a:r>
            <a:endParaRPr lang="en-US" sz="1700" dirty="0"/>
          </a:p>
        </p:txBody>
      </p:sp>
      <p:sp>
        <p:nvSpPr>
          <p:cNvPr id="13" name="followup card 3"/>
          <p:cNvSpPr/>
          <p:nvPr/>
        </p:nvSpPr>
        <p:spPr>
          <a:xfrm>
            <a:off x="548640" y="3749040"/>
            <a:ext cx="5440680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followup 3 circle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followu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4144061"/>
            <a:ext cx="261518" cy="261518"/>
          </a:xfrm>
          <a:prstGeom prst="rect">
            <a:avLst/>
          </a:prstGeom>
        </p:spPr>
      </p:pic>
      <p:sp>
        <p:nvSpPr>
          <p:cNvPr id="16" name="followup title 3"/>
          <p:cNvSpPr txBox="1"/>
          <p:nvPr/>
        </p:nvSpPr>
        <p:spPr>
          <a:xfrm>
            <a:off x="1508760" y="402336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 계획 더하기</a:t>
            </a:r>
            <a:endParaRPr lang="en-US" sz="1700" dirty="0"/>
          </a:p>
        </p:txBody>
      </p:sp>
      <p:sp>
        <p:nvSpPr>
          <p:cNvPr id="17" name="followup text 3"/>
          <p:cNvSpPr txBox="1"/>
          <p:nvPr/>
        </p:nvSpPr>
        <p:spPr>
          <a:xfrm>
            <a:off x="822960" y="46634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“운영 후 효과를 확인할 수 있게 잔반량 비교와 학생 설문 문항 5개를 추가해 줘.”</a:t>
            </a:r>
            <a:endParaRPr lang="en-US" sz="1700" dirty="0"/>
          </a:p>
        </p:txBody>
      </p:sp>
      <p:sp>
        <p:nvSpPr>
          <p:cNvPr id="18" name="followup card 4"/>
          <p:cNvSpPr/>
          <p:nvPr/>
        </p:nvSpPr>
        <p:spPr>
          <a:xfrm>
            <a:off x="6172200" y="3749040"/>
            <a:ext cx="5440680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followup 4 circle"/>
          <p:cNvSpPr/>
          <p:nvPr/>
        </p:nvSpPr>
        <p:spPr>
          <a:xfrm>
            <a:off x="6446520" y="4023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followu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221" y="4144061"/>
            <a:ext cx="261518" cy="261518"/>
          </a:xfrm>
          <a:prstGeom prst="rect">
            <a:avLst/>
          </a:prstGeom>
        </p:spPr>
      </p:pic>
      <p:sp>
        <p:nvSpPr>
          <p:cNvPr id="21" name="followup title 4"/>
          <p:cNvSpPr txBox="1"/>
          <p:nvPr/>
        </p:nvSpPr>
        <p:spPr>
          <a:xfrm>
            <a:off x="7132320" y="402336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분량 줄이기</a:t>
            </a:r>
            <a:endParaRPr lang="en-US" sz="1700" dirty="0"/>
          </a:p>
        </p:txBody>
      </p:sp>
      <p:sp>
        <p:nvSpPr>
          <p:cNvPr id="22" name="followup text 4"/>
          <p:cNvSpPr txBox="1"/>
          <p:nvPr/>
        </p:nvSpPr>
        <p:spPr>
          <a:xfrm>
            <a:off x="6446520" y="46634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“전체를 A4 한 장 분량으로 줄이고, 행정 사항은 그대로 남겨 줘.”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② 가정통신문</a:t>
            </a:r>
            <a:endParaRPr lang="en-US" sz="3000" dirty="0"/>
          </a:p>
        </p:txBody>
      </p:sp>
      <p:sp>
        <p:nvSpPr>
          <p:cNvPr id="3" name="prompt box"/>
          <p:cNvSpPr/>
          <p:nvPr/>
        </p:nvSpPr>
        <p:spPr>
          <a:xfrm>
            <a:off x="548640" y="1325880"/>
            <a:ext cx="676656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prompt label"/>
          <p:cNvSpPr txBox="1"/>
          <p:nvPr/>
        </p:nvSpPr>
        <p:spPr>
          <a:xfrm>
            <a:off x="777240" y="1463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프롬프트</a:t>
            </a:r>
            <a:endParaRPr lang="en-US" sz="1200" dirty="0"/>
          </a:p>
        </p:txBody>
      </p:sp>
      <p:sp>
        <p:nvSpPr>
          <p:cNvPr id="5" name="prompt text"/>
          <p:cNvSpPr txBox="1"/>
          <p:nvPr/>
        </p:nvSpPr>
        <p:spPr>
          <a:xfrm>
            <a:off x="777240" y="18288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너는 초등학교 영양교사야. 학부모님께 보낼 가정통신문을 써 줘.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[주제]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편식 예방을 위한 가정 식생활 지도 안내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[대상]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1~2학년 학부모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[톤]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따뜻하고 친근하되 전문성 있게, 가르치려 드는 말투는 피할 것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[구성]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제목 → 인사말 → 편식이 성장에 주는 영향 → 가정에서 해 볼 방법 3가지(예시 포함) → 마무리 인사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[분량]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A4 한 장 이내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[조건]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쉬운 우리말로, 출처가 확실하지 않은 수치·통계는 쓰지 말 것</a:t>
            </a:r>
            <a:endParaRPr lang="en-US" sz="1700" dirty="0"/>
          </a:p>
        </p:txBody>
      </p:sp>
      <p:sp>
        <p:nvSpPr>
          <p:cNvPr id="6" name="points title"/>
          <p:cNvSpPr txBox="1"/>
          <p:nvPr/>
        </p:nvSpPr>
        <p:spPr>
          <a:xfrm>
            <a:off x="768096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이렇게 바꿨어요</a:t>
            </a:r>
            <a:endParaRPr lang="en-US" sz="1800" dirty="0"/>
          </a:p>
        </p:txBody>
      </p:sp>
      <p:sp>
        <p:nvSpPr>
          <p:cNvPr id="7" name="point num 1"/>
          <p:cNvSpPr/>
          <p:nvPr/>
        </p:nvSpPr>
        <p:spPr>
          <a:xfrm>
            <a:off x="7680960" y="193852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point num text 1"/>
          <p:cNvSpPr txBox="1"/>
          <p:nvPr/>
        </p:nvSpPr>
        <p:spPr>
          <a:xfrm>
            <a:off x="768096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point text 1"/>
          <p:cNvSpPr txBox="1"/>
          <p:nvPr/>
        </p:nvSpPr>
        <p:spPr>
          <a:xfrm>
            <a:off x="8229600" y="187452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받는 사람을 구체적으로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"학부모"보다 "1~2학년 학부모"라고 하면 예시와 말투가 달라집니다.</a:t>
            </a:r>
            <a:endParaRPr lang="en-US" sz="1500" dirty="0"/>
          </a:p>
        </p:txBody>
      </p:sp>
      <p:sp>
        <p:nvSpPr>
          <p:cNvPr id="10" name="point num 2"/>
          <p:cNvSpPr/>
          <p:nvPr/>
        </p:nvSpPr>
        <p:spPr>
          <a:xfrm>
            <a:off x="7680960" y="31272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point num text 2"/>
          <p:cNvSpPr txBox="1"/>
          <p:nvPr/>
        </p:nvSpPr>
        <p:spPr>
          <a:xfrm>
            <a:off x="768096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point text 2"/>
          <p:cNvSpPr txBox="1"/>
          <p:nvPr/>
        </p:nvSpPr>
        <p:spPr>
          <a:xfrm>
            <a:off x="8229600" y="30632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피할 말투까지 적기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"가르치려 들지 않게"를 넣으면 훈계조 문장이 줄어듭니다.</a:t>
            </a:r>
            <a:endParaRPr lang="en-US" sz="1500" dirty="0"/>
          </a:p>
        </p:txBody>
      </p:sp>
      <p:sp>
        <p:nvSpPr>
          <p:cNvPr id="13" name="point num 3"/>
          <p:cNvSpPr/>
          <p:nvPr/>
        </p:nvSpPr>
        <p:spPr>
          <a:xfrm>
            <a:off x="7680960" y="431596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point num text 3"/>
          <p:cNvSpPr txBox="1"/>
          <p:nvPr/>
        </p:nvSpPr>
        <p:spPr>
          <a:xfrm>
            <a:off x="768096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point text 3"/>
          <p:cNvSpPr txBox="1"/>
          <p:nvPr/>
        </p:nvSpPr>
        <p:spPr>
          <a:xfrm>
            <a:off x="8229600" y="425196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방법은 개수와 예시로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"3가지, 예시 포함"처럼 정하면 막연한 조언 대신 바로 해 볼 수 있는 내용이 나옵니다.</a:t>
            </a:r>
            <a:endParaRPr lang="en-US" sz="1500" dirty="0"/>
          </a:p>
        </p:txBody>
      </p:sp>
      <p:sp>
        <p:nvSpPr>
          <p:cNvPr id="16" name="point num 4"/>
          <p:cNvSpPr/>
          <p:nvPr/>
        </p:nvSpPr>
        <p:spPr>
          <a:xfrm>
            <a:off x="7680960" y="550468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point num text 4"/>
          <p:cNvSpPr txBox="1"/>
          <p:nvPr/>
        </p:nvSpPr>
        <p:spPr>
          <a:xfrm>
            <a:off x="7680960" y="5504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point text 4"/>
          <p:cNvSpPr txBox="1"/>
          <p:nvPr/>
        </p:nvSpPr>
        <p:spPr>
          <a:xfrm>
            <a:off x="8229600" y="544068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통계 지어내기 차단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AI가 만든 "OO%의 아이들이…" 같은 수치는 출처가 없는 경우가 많습니다.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가정통신문, 이렇게도 활용해요</a:t>
            </a:r>
            <a:endParaRPr lang="en-US" sz="3000" dirty="0"/>
          </a:p>
        </p:txBody>
      </p:sp>
      <p:sp>
        <p:nvSpPr>
          <p:cNvPr id="3" name="followup card 1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followup 1 circle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followu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766621"/>
            <a:ext cx="261518" cy="261518"/>
          </a:xfrm>
          <a:prstGeom prst="rect">
            <a:avLst/>
          </a:prstGeom>
        </p:spPr>
      </p:pic>
      <p:sp>
        <p:nvSpPr>
          <p:cNvPr id="6" name="followup title 1"/>
          <p:cNvSpPr txBox="1"/>
          <p:nvPr/>
        </p:nvSpPr>
        <p:spPr>
          <a:xfrm>
            <a:off x="1508760" y="164592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제목 고르기</a:t>
            </a:r>
            <a:endParaRPr lang="en-US" sz="1700" dirty="0"/>
          </a:p>
        </p:txBody>
      </p:sp>
      <p:sp>
        <p:nvSpPr>
          <p:cNvPr id="7" name="followup text 1"/>
          <p:cNvSpPr txBox="1"/>
          <p:nvPr/>
        </p:nvSpPr>
        <p:spPr>
          <a:xfrm>
            <a:off x="822960" y="228600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“눈에 잘 들어오는 가정통신문 제목을 5개 제안해 줘. 15자 이내로.”</a:t>
            </a:r>
            <a:endParaRPr lang="en-US" sz="1700" dirty="0"/>
          </a:p>
        </p:txBody>
      </p:sp>
      <p:sp>
        <p:nvSpPr>
          <p:cNvPr id="8" name="followup card 2"/>
          <p:cNvSpPr/>
          <p:nvPr/>
        </p:nvSpPr>
        <p:spPr>
          <a:xfrm>
            <a:off x="6172200" y="1371600"/>
            <a:ext cx="5440680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followup 2 circle"/>
          <p:cNvSpPr/>
          <p:nvPr/>
        </p:nvSpPr>
        <p:spPr>
          <a:xfrm>
            <a:off x="6446520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followu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221" y="1766621"/>
            <a:ext cx="261518" cy="261518"/>
          </a:xfrm>
          <a:prstGeom prst="rect">
            <a:avLst/>
          </a:prstGeom>
        </p:spPr>
      </p:pic>
      <p:sp>
        <p:nvSpPr>
          <p:cNvPr id="11" name="followup title 2"/>
          <p:cNvSpPr txBox="1"/>
          <p:nvPr/>
        </p:nvSpPr>
        <p:spPr>
          <a:xfrm>
            <a:off x="7132320" y="164592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다문화 가정 안내</a:t>
            </a:r>
            <a:endParaRPr lang="en-US" sz="1700" dirty="0"/>
          </a:p>
        </p:txBody>
      </p:sp>
      <p:sp>
        <p:nvSpPr>
          <p:cNvPr id="12" name="followup text 2"/>
          <p:cNvSpPr txBox="1"/>
          <p:nvPr/>
        </p:nvSpPr>
        <p:spPr>
          <a:xfrm>
            <a:off x="6446520" y="228600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“같은 내용을 베트남어로 번역해 줘. 음식 이름은 한국어를 괄호로 같이 적어 줘.”</a:t>
            </a:r>
            <a:endParaRPr lang="en-US" sz="1700" dirty="0"/>
          </a:p>
        </p:txBody>
      </p:sp>
      <p:sp>
        <p:nvSpPr>
          <p:cNvPr id="13" name="followup card 3"/>
          <p:cNvSpPr/>
          <p:nvPr/>
        </p:nvSpPr>
        <p:spPr>
          <a:xfrm>
            <a:off x="548640" y="3749040"/>
            <a:ext cx="5440680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followup 3 circle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followu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4144061"/>
            <a:ext cx="261518" cy="261518"/>
          </a:xfrm>
          <a:prstGeom prst="rect">
            <a:avLst/>
          </a:prstGeom>
        </p:spPr>
      </p:pic>
      <p:sp>
        <p:nvSpPr>
          <p:cNvPr id="16" name="followup title 3"/>
          <p:cNvSpPr txBox="1"/>
          <p:nvPr/>
        </p:nvSpPr>
        <p:spPr>
          <a:xfrm>
            <a:off x="1508760" y="402336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알림장용 짧은 글</a:t>
            </a:r>
            <a:endParaRPr lang="en-US" sz="1700" dirty="0"/>
          </a:p>
        </p:txBody>
      </p:sp>
      <p:sp>
        <p:nvSpPr>
          <p:cNvPr id="17" name="followup text 3"/>
          <p:cNvSpPr txBox="1"/>
          <p:nvPr/>
        </p:nvSpPr>
        <p:spPr>
          <a:xfrm>
            <a:off x="822960" y="46634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“이 내용을 학교 알림 앱에 올릴 3줄 요약으로 바꿔 줘.”</a:t>
            </a:r>
            <a:endParaRPr lang="en-US" sz="1700" dirty="0"/>
          </a:p>
        </p:txBody>
      </p:sp>
      <p:sp>
        <p:nvSpPr>
          <p:cNvPr id="18" name="followup card 4"/>
          <p:cNvSpPr/>
          <p:nvPr/>
        </p:nvSpPr>
        <p:spPr>
          <a:xfrm>
            <a:off x="6172200" y="3749040"/>
            <a:ext cx="5440680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followup 4 circle"/>
          <p:cNvSpPr/>
          <p:nvPr/>
        </p:nvSpPr>
        <p:spPr>
          <a:xfrm>
            <a:off x="6446520" y="4023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followu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221" y="4144061"/>
            <a:ext cx="261518" cy="261518"/>
          </a:xfrm>
          <a:prstGeom prst="rect">
            <a:avLst/>
          </a:prstGeom>
        </p:spPr>
      </p:pic>
      <p:sp>
        <p:nvSpPr>
          <p:cNvPr id="21" name="followup title 4"/>
          <p:cNvSpPr txBox="1"/>
          <p:nvPr/>
        </p:nvSpPr>
        <p:spPr>
          <a:xfrm>
            <a:off x="7132320" y="402336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아이용 버전</a:t>
            </a:r>
            <a:endParaRPr lang="en-US" sz="1700" dirty="0"/>
          </a:p>
        </p:txBody>
      </p:sp>
      <p:sp>
        <p:nvSpPr>
          <p:cNvPr id="22" name="followup text 4"/>
          <p:cNvSpPr txBox="1"/>
          <p:nvPr/>
        </p:nvSpPr>
        <p:spPr>
          <a:xfrm>
            <a:off x="6446520" y="46634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“같은 내용을 1학년 학생이 읽을 수 있게 쉬운 말과 짧은 문장으로 바꿔 줘.”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③ 학교급식소위원회 회의록</a:t>
            </a:r>
            <a:endParaRPr lang="en-US" sz="3000" dirty="0"/>
          </a:p>
        </p:txBody>
      </p:sp>
      <p:sp>
        <p:nvSpPr>
          <p:cNvPr id="3" name="prompt box"/>
          <p:cNvSpPr/>
          <p:nvPr/>
        </p:nvSpPr>
        <p:spPr>
          <a:xfrm>
            <a:off x="548640" y="1325880"/>
            <a:ext cx="676656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prompt label"/>
          <p:cNvSpPr txBox="1"/>
          <p:nvPr/>
        </p:nvSpPr>
        <p:spPr>
          <a:xfrm>
            <a:off x="777240" y="1463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프롬프트</a:t>
            </a:r>
            <a:endParaRPr lang="en-US" sz="1200" dirty="0"/>
          </a:p>
        </p:txBody>
      </p:sp>
      <p:sp>
        <p:nvSpPr>
          <p:cNvPr id="5" name="prompt text"/>
          <p:cNvSpPr txBox="1"/>
          <p:nvPr/>
        </p:nvSpPr>
        <p:spPr>
          <a:xfrm>
            <a:off x="777240" y="18288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너는 학교급식소위원회 간사(영양교사)야. 아래 메모로 회의록 초안을 써 줘.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[개요]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2026. ○. ○.(○) 15:00, ○○실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[참석]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위원장, 영양교사, 학부모위원 A·B·C (총 5명)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[안건]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1. 2학기 식재료 납품업체 평가 결과 보고  2. 영양·식생활교육 활성화 방안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[메모]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(회의 중에 적은 내용을 그대로 붙여넣기)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[결과]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안건 1은 보고 접수, 안건 2는 원안 의결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[형식]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개요 → 안건별 보고·논의 요지·결정 사항 → 폐회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[조건]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메모에 없는 발언과 수치는 지어내지 말고 [확인 필요]로 표시</a:t>
            </a:r>
            <a:endParaRPr lang="en-US" sz="1700" dirty="0"/>
          </a:p>
        </p:txBody>
      </p:sp>
      <p:sp>
        <p:nvSpPr>
          <p:cNvPr id="6" name="points title"/>
          <p:cNvSpPr txBox="1"/>
          <p:nvPr/>
        </p:nvSpPr>
        <p:spPr>
          <a:xfrm>
            <a:off x="768096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이렇게 바꿨어요</a:t>
            </a:r>
            <a:endParaRPr lang="en-US" sz="1800" dirty="0"/>
          </a:p>
        </p:txBody>
      </p:sp>
      <p:sp>
        <p:nvSpPr>
          <p:cNvPr id="7" name="point num 1"/>
          <p:cNvSpPr/>
          <p:nvPr/>
        </p:nvSpPr>
        <p:spPr>
          <a:xfrm>
            <a:off x="7680960" y="193852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point num text 1"/>
          <p:cNvSpPr txBox="1"/>
          <p:nvPr/>
        </p:nvSpPr>
        <p:spPr>
          <a:xfrm>
            <a:off x="768096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point text 1"/>
          <p:cNvSpPr txBox="1"/>
          <p:nvPr/>
        </p:nvSpPr>
        <p:spPr>
          <a:xfrm>
            <a:off x="8229600" y="187452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회의 메모를 꼭 넣기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메모 없이 시키면 AI가 그럴듯한 발언을 통째로 지어냅니다.</a:t>
            </a:r>
            <a:endParaRPr lang="en-US" sz="1500" dirty="0"/>
          </a:p>
        </p:txBody>
      </p:sp>
      <p:sp>
        <p:nvSpPr>
          <p:cNvPr id="10" name="point num 2"/>
          <p:cNvSpPr/>
          <p:nvPr/>
        </p:nvSpPr>
        <p:spPr>
          <a:xfrm>
            <a:off x="7680960" y="31272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point num text 2"/>
          <p:cNvSpPr txBox="1"/>
          <p:nvPr/>
        </p:nvSpPr>
        <p:spPr>
          <a:xfrm>
            <a:off x="768096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point text 2"/>
          <p:cNvSpPr txBox="1"/>
          <p:nvPr/>
        </p:nvSpPr>
        <p:spPr>
          <a:xfrm>
            <a:off x="8229600" y="30632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보고 안건과 의결 안건 구분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보고 안건은 "보고 접수", 심의 안건만 "원안 의결"입니다.</a:t>
            </a:r>
            <a:endParaRPr lang="en-US" sz="1500" dirty="0"/>
          </a:p>
        </p:txBody>
      </p:sp>
      <p:sp>
        <p:nvSpPr>
          <p:cNvPr id="13" name="point num 3"/>
          <p:cNvSpPr/>
          <p:nvPr/>
        </p:nvSpPr>
        <p:spPr>
          <a:xfrm>
            <a:off x="7680960" y="431596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point num text 3"/>
          <p:cNvSpPr txBox="1"/>
          <p:nvPr/>
        </p:nvSpPr>
        <p:spPr>
          <a:xfrm>
            <a:off x="768096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point text 3"/>
          <p:cNvSpPr txBox="1"/>
          <p:nvPr/>
        </p:nvSpPr>
        <p:spPr>
          <a:xfrm>
            <a:off x="8229600" y="425196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이름은 A·B·C로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위원 실명과 업체명은 넣지 않고, 완성본에서 직접 바꿉니다.</a:t>
            </a:r>
            <a:endParaRPr lang="en-US" sz="1500" dirty="0"/>
          </a:p>
        </p:txBody>
      </p:sp>
      <p:sp>
        <p:nvSpPr>
          <p:cNvPr id="16" name="point num 4"/>
          <p:cNvSpPr/>
          <p:nvPr/>
        </p:nvSpPr>
        <p:spPr>
          <a:xfrm>
            <a:off x="7680960" y="550468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point num text 4"/>
          <p:cNvSpPr txBox="1"/>
          <p:nvPr/>
        </p:nvSpPr>
        <p:spPr>
          <a:xfrm>
            <a:off x="7680960" y="5504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point text 4"/>
          <p:cNvSpPr txBox="1"/>
          <p:nvPr/>
        </p:nvSpPr>
        <p:spPr>
          <a:xfrm>
            <a:off x="8229600" y="544068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빈칸은 [확인 필요]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빠진 정보를 표시하게 하면 검토할 곳이 바로 보입니다.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유의 ① 개인정보와 내부 정보는 지우고 넣기</a:t>
            </a:r>
            <a:endParaRPr lang="en-US" sz="3000" dirty="0"/>
          </a:p>
        </p:txBody>
      </p:sp>
      <p:sp>
        <p:nvSpPr>
          <p:cNvPr id="3" name="privacy circle"/>
          <p:cNvSpPr/>
          <p:nvPr/>
        </p:nvSpPr>
        <p:spPr>
          <a:xfrm>
            <a:off x="548640" y="13716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4" name="privac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547165"/>
            <a:ext cx="380390" cy="380390"/>
          </a:xfrm>
          <a:prstGeom prst="rect">
            <a:avLst/>
          </a:prstGeom>
        </p:spPr>
      </p:pic>
      <p:sp>
        <p:nvSpPr>
          <p:cNvPr id="5" name="privacy lead"/>
          <p:cNvSpPr txBox="1"/>
          <p:nvPr/>
        </p:nvSpPr>
        <p:spPr>
          <a:xfrm>
            <a:off x="1463040" y="13716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AI에 입력한 내용은 외부 서버로 전송됩니다. 개인 계정의 무료 AI는 입력 내용이 서비스 개선에 쓰일 수도 있습니다.</a:t>
            </a:r>
            <a:endParaRPr lang="en-US" sz="1600" dirty="0"/>
          </a:p>
        </p:txBody>
      </p:sp>
      <p:graphicFrame>
        <p:nvGraphicFramePr>
          <p:cNvPr id="9" name="privac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023360"/>
                <a:gridCol w="40233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그대로 넣으면 ✕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이렇게 바꿔서 ○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학생 이름·학번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김○○ (3-2, 15번)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A학생 (3학년)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알레르기·건강 정보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박○○ 땅콩 아나필락시스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학생 B: 땅콩 알레르기(중증)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교직원 실명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○○○ 교감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교감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업체명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(주)○○푸드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가 업체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내부 결재 라인·공문 원문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공문 전체 복사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필요한 내용만 요약해서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유의 ② 법령·영양기준·수치는 반드시 직접 확인</a:t>
            </a:r>
            <a:endParaRPr lang="en-US" sz="3000" dirty="0"/>
          </a:p>
        </p:txBody>
      </p:sp>
      <p:sp>
        <p:nvSpPr>
          <p:cNvPr id="3" name="check row 1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9525">
            <a:solidFill>
              <a:srgbClr val="D5DFD8"/>
            </a:solidFill>
            <a:prstDash val="solid"/>
          </a:ln>
        </p:spPr>
      </p:sp>
      <p:sp>
        <p:nvSpPr>
          <p:cNvPr id="4" name="check 1 circle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heck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86154"/>
            <a:ext cx="285293" cy="285293"/>
          </a:xfrm>
          <a:prstGeom prst="rect">
            <a:avLst/>
          </a:prstGeom>
        </p:spPr>
      </p:pic>
      <p:sp>
        <p:nvSpPr>
          <p:cNvPr id="6" name="check name 1"/>
          <p:cNvSpPr txBox="1"/>
          <p:nvPr/>
        </p:nvSpPr>
        <p:spPr>
          <a:xfrm>
            <a:off x="146304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법령 조문</a:t>
            </a:r>
            <a:endParaRPr lang="en-US" sz="1700" dirty="0"/>
          </a:p>
        </p:txBody>
      </p:sp>
      <p:sp>
        <p:nvSpPr>
          <p:cNvPr id="7" name="check what 1"/>
          <p:cNvSpPr txBox="1"/>
          <p:nvPr/>
        </p:nvSpPr>
        <p:spPr>
          <a:xfrm>
            <a:off x="3474720" y="1371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학교급식법·시행령·시행규칙 조항 번호와 내용</a:t>
            </a:r>
            <a:endParaRPr lang="en-US" sz="1400" dirty="0"/>
          </a:p>
        </p:txBody>
      </p:sp>
      <p:sp>
        <p:nvSpPr>
          <p:cNvPr id="8" name="check where 1"/>
          <p:cNvSpPr txBox="1"/>
          <p:nvPr/>
        </p:nvSpPr>
        <p:spPr>
          <a:xfrm>
            <a:off x="7498080" y="1371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 국가법령정보센터(law.go.kr)에서 원문 확인</a:t>
            </a:r>
            <a:endParaRPr lang="en-US" sz="1400" dirty="0"/>
          </a:p>
        </p:txBody>
      </p:sp>
      <p:sp>
        <p:nvSpPr>
          <p:cNvPr id="9" name="check row 2"/>
          <p:cNvSpPr/>
          <p:nvPr/>
        </p:nvSpPr>
        <p:spPr>
          <a:xfrm>
            <a:off x="548640" y="242316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rgbClr val="D5DFD8"/>
            </a:solidFill>
            <a:prstDash val="solid"/>
          </a:ln>
        </p:spPr>
      </p:sp>
      <p:sp>
        <p:nvSpPr>
          <p:cNvPr id="10" name="check 2 circle"/>
          <p:cNvSpPr/>
          <p:nvPr/>
        </p:nvSpPr>
        <p:spPr>
          <a:xfrm>
            <a:off x="731520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check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4" y="2737714"/>
            <a:ext cx="285293" cy="285293"/>
          </a:xfrm>
          <a:prstGeom prst="rect">
            <a:avLst/>
          </a:prstGeom>
        </p:spPr>
      </p:pic>
      <p:sp>
        <p:nvSpPr>
          <p:cNvPr id="12" name="check name 2"/>
          <p:cNvSpPr txBox="1"/>
          <p:nvPr/>
        </p:nvSpPr>
        <p:spPr>
          <a:xfrm>
            <a:off x="1463040" y="24231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영양량·기준</a:t>
            </a:r>
            <a:endParaRPr lang="en-US" sz="1700" dirty="0"/>
          </a:p>
        </p:txBody>
      </p:sp>
      <p:sp>
        <p:nvSpPr>
          <p:cNvPr id="13" name="check what 2"/>
          <p:cNvSpPr txBox="1"/>
          <p:nvPr/>
        </p:nvSpPr>
        <p:spPr>
          <a:xfrm>
            <a:off x="3474720" y="24231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식단 영양량, 영양관리기준, 알레르기 표시 기준</a:t>
            </a:r>
            <a:endParaRPr lang="en-US" sz="1400" dirty="0"/>
          </a:p>
        </p:txBody>
      </p:sp>
      <p:sp>
        <p:nvSpPr>
          <p:cNvPr id="14" name="check where 2"/>
          <p:cNvSpPr txBox="1"/>
          <p:nvPr/>
        </p:nvSpPr>
        <p:spPr>
          <a:xfrm>
            <a:off x="7498080" y="24231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 학교급식법 시행규칙과 교육청 지침, 식단 작성 프로그램 값과 대조</a:t>
            </a:r>
            <a:endParaRPr lang="en-US" sz="1400" dirty="0"/>
          </a:p>
        </p:txBody>
      </p:sp>
      <p:sp>
        <p:nvSpPr>
          <p:cNvPr id="15" name="check row 3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9525">
            <a:solidFill>
              <a:srgbClr val="D5DFD8"/>
            </a:solidFill>
            <a:prstDash val="solid"/>
          </a:ln>
        </p:spPr>
      </p:sp>
      <p:sp>
        <p:nvSpPr>
          <p:cNvPr id="16" name="check 3 circle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check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3789274"/>
            <a:ext cx="285293" cy="285293"/>
          </a:xfrm>
          <a:prstGeom prst="rect">
            <a:avLst/>
          </a:prstGeom>
        </p:spPr>
      </p:pic>
      <p:sp>
        <p:nvSpPr>
          <p:cNvPr id="18" name="check name 3"/>
          <p:cNvSpPr txBox="1"/>
          <p:nvPr/>
        </p:nvSpPr>
        <p:spPr>
          <a:xfrm>
            <a:off x="146304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위생·조리 지침</a:t>
            </a:r>
            <a:endParaRPr lang="en-US" sz="1700" dirty="0"/>
          </a:p>
        </p:txBody>
      </p:sp>
      <p:sp>
        <p:nvSpPr>
          <p:cNvPr id="19" name="check what 3"/>
          <p:cNvSpPr txBox="1"/>
          <p:nvPr/>
        </p:nvSpPr>
        <p:spPr>
          <a:xfrm>
            <a:off x="3474720" y="34747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보관 온도, 조리 절차, 검식·보존식 기준</a:t>
            </a:r>
            <a:endParaRPr lang="en-US" sz="1400" dirty="0"/>
          </a:p>
        </p:txBody>
      </p:sp>
      <p:sp>
        <p:nvSpPr>
          <p:cNvPr id="20" name="check where 3"/>
          <p:cNvSpPr txBox="1"/>
          <p:nvPr/>
        </p:nvSpPr>
        <p:spPr>
          <a:xfrm>
            <a:off x="7498080" y="34747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 교육청 학교급식 위생관리 지침서로 확인</a:t>
            </a:r>
            <a:endParaRPr lang="en-US" sz="1400" dirty="0"/>
          </a:p>
        </p:txBody>
      </p:sp>
      <p:sp>
        <p:nvSpPr>
          <p:cNvPr id="21" name="check row 4"/>
          <p:cNvSpPr/>
          <p:nvPr/>
        </p:nvSpPr>
        <p:spPr>
          <a:xfrm>
            <a:off x="548640" y="452628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rgbClr val="D5DFD8"/>
            </a:solidFill>
            <a:prstDash val="solid"/>
          </a:ln>
        </p:spPr>
      </p:sp>
      <p:sp>
        <p:nvSpPr>
          <p:cNvPr id="22" name="check 4 circle"/>
          <p:cNvSpPr/>
          <p:nvPr/>
        </p:nvSpPr>
        <p:spPr>
          <a:xfrm>
            <a:off x="731520" y="47091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check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94" y="4840834"/>
            <a:ext cx="285293" cy="285293"/>
          </a:xfrm>
          <a:prstGeom prst="rect">
            <a:avLst/>
          </a:prstGeom>
        </p:spPr>
      </p:pic>
      <p:sp>
        <p:nvSpPr>
          <p:cNvPr id="24" name="check name 4"/>
          <p:cNvSpPr txBox="1"/>
          <p:nvPr/>
        </p:nvSpPr>
        <p:spPr>
          <a:xfrm>
            <a:off x="1463040" y="4526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통계·인용</a:t>
            </a:r>
            <a:endParaRPr lang="en-US" sz="1700" dirty="0"/>
          </a:p>
        </p:txBody>
      </p:sp>
      <p:sp>
        <p:nvSpPr>
          <p:cNvPr id="25" name="check what 4"/>
          <p:cNvSpPr txBox="1"/>
          <p:nvPr/>
        </p:nvSpPr>
        <p:spPr>
          <a:xfrm>
            <a:off x="3474720" y="4526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"○○%의 학생이…" 같은 수치와 연구 인용</a:t>
            </a:r>
            <a:endParaRPr lang="en-US" sz="1400" dirty="0"/>
          </a:p>
        </p:txBody>
      </p:sp>
      <p:sp>
        <p:nvSpPr>
          <p:cNvPr id="26" name="check where 4"/>
          <p:cNvSpPr txBox="1"/>
          <p:nvPr/>
        </p:nvSpPr>
        <p:spPr>
          <a:xfrm>
            <a:off x="7498080" y="4526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 출처가 없으면 빼거나 공식 통계로 바꾸기</a:t>
            </a:r>
            <a:endParaRPr lang="en-US" sz="1400" dirty="0"/>
          </a:p>
        </p:txBody>
      </p:sp>
      <p:sp>
        <p:nvSpPr>
          <p:cNvPr id="27" name="selfcheck box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9355"/>
            </a:avLst>
          </a:prstGeom>
          <a:solidFill>
            <a:schemeClr val="accent5"/>
          </a:solidFill>
          <a:ln/>
        </p:spPr>
      </p:sp>
      <p:sp>
        <p:nvSpPr>
          <p:cNvPr id="28" name="selfcheck text"/>
          <p:cNvSpPr txBox="1"/>
          <p:nvPr/>
        </p:nvSpPr>
        <p:spPr>
          <a:xfrm>
            <a:off x="77724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확인용 한마디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“방금 쓴 글에서 법령, 수치, 기준처럼 사실 확인이 필요한 부분을 모두 표시해 줘.”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유의 ③ AI는 초안까지, 완성과 책임은 영양교사</a:t>
            </a:r>
            <a:endParaRPr lang="en-US" sz="3000" dirty="0"/>
          </a:p>
        </p:txBody>
      </p:sp>
      <p:sp>
        <p:nvSpPr>
          <p:cNvPr id="3" name="flow card 1"/>
          <p:cNvSpPr/>
          <p:nvPr/>
        </p:nvSpPr>
        <p:spPr>
          <a:xfrm>
            <a:off x="548640" y="1554480"/>
            <a:ext cx="3383280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4" name="flow 1 circle"/>
          <p:cNvSpPr/>
          <p:nvPr/>
        </p:nvSpPr>
        <p:spPr>
          <a:xfrm>
            <a:off x="1783080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low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2093976"/>
            <a:ext cx="475488" cy="475488"/>
          </a:xfrm>
          <a:prstGeom prst="rect">
            <a:avLst/>
          </a:prstGeom>
        </p:spPr>
      </p:pic>
      <p:sp>
        <p:nvSpPr>
          <p:cNvPr id="6" name="flow name 1"/>
          <p:cNvSpPr txBox="1"/>
          <p:nvPr/>
        </p:nvSpPr>
        <p:spPr>
          <a:xfrm>
            <a:off x="73152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AI 초안</a:t>
            </a:r>
            <a:endParaRPr lang="en-US" sz="2100" dirty="0"/>
          </a:p>
        </p:txBody>
      </p:sp>
      <p:sp>
        <p:nvSpPr>
          <p:cNvPr id="7" name="flow sub 1"/>
          <p:cNvSpPr txBox="1"/>
          <p:nvPr/>
        </p:nvSpPr>
        <p:spPr>
          <a:xfrm>
            <a:off x="73152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뼈대와 문장 잡기</a:t>
            </a:r>
            <a:endParaRPr lang="en-US" sz="1500" dirty="0"/>
          </a:p>
        </p:txBody>
      </p:sp>
      <p:sp>
        <p:nvSpPr>
          <p:cNvPr id="8" name="flow desc 1"/>
          <p:cNvSpPr txBox="1"/>
          <p:nvPr/>
        </p:nvSpPr>
        <p:spPr>
          <a:xfrm>
            <a:off x="822960" y="3931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구성, 문장, 표 틀을 빠르게 만듭니다</a:t>
            </a:r>
            <a:endParaRPr lang="en-US" sz="1400" dirty="0"/>
          </a:p>
        </p:txBody>
      </p:sp>
      <p:sp>
        <p:nvSpPr>
          <p:cNvPr id="9" name="flow arrow 1"/>
          <p:cNvSpPr/>
          <p:nvPr/>
        </p:nvSpPr>
        <p:spPr>
          <a:xfrm>
            <a:off x="4023360" y="3017520"/>
            <a:ext cx="274320" cy="36576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0" name="flow card 2"/>
          <p:cNvSpPr/>
          <p:nvPr/>
        </p:nvSpPr>
        <p:spPr>
          <a:xfrm>
            <a:off x="4389120" y="1554480"/>
            <a:ext cx="3383280" cy="3291840"/>
          </a:xfrm>
          <a:prstGeom prst="roundRect">
            <a:avLst>
              <a:gd name="adj" fmla="val 4167"/>
            </a:avLst>
          </a:prstGeom>
          <a:solidFill>
            <a:schemeClr val="accent5"/>
          </a:solidFill>
          <a:ln/>
        </p:spPr>
      </p:sp>
      <p:sp>
        <p:nvSpPr>
          <p:cNvPr id="11" name="flow 2 circle"/>
          <p:cNvSpPr/>
          <p:nvPr/>
        </p:nvSpPr>
        <p:spPr>
          <a:xfrm>
            <a:off x="5623560" y="18745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low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3016" y="2093976"/>
            <a:ext cx="475488" cy="475488"/>
          </a:xfrm>
          <a:prstGeom prst="rect">
            <a:avLst/>
          </a:prstGeom>
        </p:spPr>
      </p:pic>
      <p:sp>
        <p:nvSpPr>
          <p:cNvPr id="13" name="flow name 2"/>
          <p:cNvSpPr txBox="1"/>
          <p:nvPr/>
        </p:nvSpPr>
        <p:spPr>
          <a:xfrm>
            <a:off x="457200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영양교사 검토·수정</a:t>
            </a:r>
            <a:endParaRPr lang="en-US" sz="2100" dirty="0"/>
          </a:p>
        </p:txBody>
      </p:sp>
      <p:sp>
        <p:nvSpPr>
          <p:cNvPr id="14" name="flow sub 2"/>
          <p:cNvSpPr txBox="1"/>
          <p:nvPr/>
        </p:nvSpPr>
        <p:spPr>
          <a:xfrm>
            <a:off x="457200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우리 학교에 맞추기</a:t>
            </a:r>
            <a:endParaRPr lang="en-US" sz="1500" dirty="0"/>
          </a:p>
        </p:txBody>
      </p:sp>
      <p:sp>
        <p:nvSpPr>
          <p:cNvPr id="15" name="flow desc 2"/>
          <p:cNvSpPr txBox="1"/>
          <p:nvPr/>
        </p:nvSpPr>
        <p:spPr>
          <a:xfrm>
            <a:off x="4663440" y="3931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학교 실정, 실제 일정·예산, 사실관계를 채우고 고칩니다</a:t>
            </a:r>
            <a:endParaRPr lang="en-US" sz="1400" dirty="0"/>
          </a:p>
        </p:txBody>
      </p:sp>
      <p:sp>
        <p:nvSpPr>
          <p:cNvPr id="16" name="flow arrow 2"/>
          <p:cNvSpPr/>
          <p:nvPr/>
        </p:nvSpPr>
        <p:spPr>
          <a:xfrm>
            <a:off x="7863840" y="3017520"/>
            <a:ext cx="274320" cy="36576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7" name="flow card 3"/>
          <p:cNvSpPr/>
          <p:nvPr/>
        </p:nvSpPr>
        <p:spPr>
          <a:xfrm>
            <a:off x="8229600" y="1554480"/>
            <a:ext cx="3383280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18" name="flow 3 circle"/>
          <p:cNvSpPr/>
          <p:nvPr/>
        </p:nvSpPr>
        <p:spPr>
          <a:xfrm>
            <a:off x="9464040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flow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96" y="2093976"/>
            <a:ext cx="475488" cy="475488"/>
          </a:xfrm>
          <a:prstGeom prst="rect">
            <a:avLst/>
          </a:prstGeom>
        </p:spPr>
      </p:pic>
      <p:sp>
        <p:nvSpPr>
          <p:cNvPr id="20" name="flow name 3"/>
          <p:cNvSpPr txBox="1"/>
          <p:nvPr/>
        </p:nvSpPr>
        <p:spPr>
          <a:xfrm>
            <a:off x="841248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결재·발송</a:t>
            </a:r>
            <a:endParaRPr lang="en-US" sz="2100" dirty="0"/>
          </a:p>
        </p:txBody>
      </p:sp>
      <p:sp>
        <p:nvSpPr>
          <p:cNvPr id="21" name="flow sub 3"/>
          <p:cNvSpPr txBox="1"/>
          <p:nvPr/>
        </p:nvSpPr>
        <p:spPr>
          <a:xfrm>
            <a:off x="841248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공문서로 완성</a:t>
            </a:r>
            <a:endParaRPr lang="en-US" sz="1500" dirty="0"/>
          </a:p>
        </p:txBody>
      </p:sp>
      <p:sp>
        <p:nvSpPr>
          <p:cNvPr id="22" name="flow desc 3"/>
          <p:cNvSpPr txBox="1"/>
          <p:nvPr/>
        </p:nvSpPr>
        <p:spPr>
          <a:xfrm>
            <a:off x="8503920" y="3931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학교 서식에 옮기고 결재를 거쳐 발송합니다</a:t>
            </a:r>
            <a:endParaRPr lang="en-US" sz="1400" dirty="0"/>
          </a:p>
        </p:txBody>
      </p:sp>
      <p:sp>
        <p:nvSpPr>
          <p:cNvPr id="23" name="flow tip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공문서의 내용과 결과에 대한 책임은 AI가 아니라 작성자에게 있습니다. 가운데 단계를 건너뛰지 마세요.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ecklist title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보내기 전 체크리스트</a:t>
            </a:r>
            <a:endParaRPr lang="en-US" sz="3400" dirty="0"/>
          </a:p>
        </p:txBody>
      </p:sp>
      <p:sp>
        <p:nvSpPr>
          <p:cNvPr id="3" name="checklist card 1"/>
          <p:cNvSpPr/>
          <p:nvPr/>
        </p:nvSpPr>
        <p:spPr>
          <a:xfrm>
            <a:off x="731520" y="1554480"/>
            <a:ext cx="5120640" cy="420624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/>
        </p:spPr>
      </p:sp>
      <p:sp>
        <p:nvSpPr>
          <p:cNvPr id="4" name="checklist head 1"/>
          <p:cNvSpPr txBox="1"/>
          <p:nvPr/>
        </p:nvSpPr>
        <p:spPr>
          <a:xfrm>
            <a:off x="1051560" y="1828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AI에 넣기 전</a:t>
            </a:r>
            <a:endParaRPr lang="en-US" sz="2200" dirty="0"/>
          </a:p>
        </p:txBody>
      </p:sp>
      <p:sp>
        <p:nvSpPr>
          <p:cNvPr id="5" name="check 0-0 circle"/>
          <p:cNvSpPr/>
          <p:nvPr/>
        </p:nvSpPr>
        <p:spPr>
          <a:xfrm>
            <a:off x="1051560" y="2606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check 0-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2261" y="2726741"/>
            <a:ext cx="261518" cy="261518"/>
          </a:xfrm>
          <a:prstGeom prst="rect">
            <a:avLst/>
          </a:prstGeom>
        </p:spPr>
      </p:pic>
      <p:sp>
        <p:nvSpPr>
          <p:cNvPr id="7" name="checklist item 0-0"/>
          <p:cNvSpPr txBox="1"/>
          <p:nvPr/>
        </p:nvSpPr>
        <p:spPr>
          <a:xfrm>
            <a:off x="1737360" y="251460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실명·학번·업체명을 A, B, ○○로 바꿨다</a:t>
            </a:r>
            <a:endParaRPr lang="en-US" sz="1600" dirty="0"/>
          </a:p>
        </p:txBody>
      </p:sp>
      <p:sp>
        <p:nvSpPr>
          <p:cNvPr id="8" name="check 0-1 circle"/>
          <p:cNvSpPr/>
          <p:nvPr/>
        </p:nvSpPr>
        <p:spPr>
          <a:xfrm>
            <a:off x="1051560" y="35661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check 0-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3686861"/>
            <a:ext cx="261518" cy="261518"/>
          </a:xfrm>
          <a:prstGeom prst="rect">
            <a:avLst/>
          </a:prstGeom>
        </p:spPr>
      </p:pic>
      <p:sp>
        <p:nvSpPr>
          <p:cNvPr id="10" name="checklist item 0-1"/>
          <p:cNvSpPr txBox="1"/>
          <p:nvPr/>
        </p:nvSpPr>
        <p:spPr>
          <a:xfrm>
            <a:off x="1737360" y="347472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역할·상황·할 일·형식·조건을 다 적었다</a:t>
            </a:r>
            <a:endParaRPr lang="en-US" sz="1600" dirty="0"/>
          </a:p>
        </p:txBody>
      </p:sp>
      <p:sp>
        <p:nvSpPr>
          <p:cNvPr id="11" name="check 0-2 circle"/>
          <p:cNvSpPr/>
          <p:nvPr/>
        </p:nvSpPr>
        <p:spPr>
          <a:xfrm>
            <a:off x="1051560" y="45262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check 0-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261" y="4646981"/>
            <a:ext cx="261518" cy="261518"/>
          </a:xfrm>
          <a:prstGeom prst="rect">
            <a:avLst/>
          </a:prstGeom>
        </p:spPr>
      </p:pic>
      <p:sp>
        <p:nvSpPr>
          <p:cNvPr id="13" name="checklist item 0-2"/>
          <p:cNvSpPr txBox="1"/>
          <p:nvPr/>
        </p:nvSpPr>
        <p:spPr>
          <a:xfrm>
            <a:off x="1737360" y="443484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숫자는 지어내지 말라고 했다</a:t>
            </a:r>
            <a:endParaRPr lang="en-US" sz="1600" dirty="0"/>
          </a:p>
        </p:txBody>
      </p:sp>
      <p:sp>
        <p:nvSpPr>
          <p:cNvPr id="14" name="checklist card 2"/>
          <p:cNvSpPr/>
          <p:nvPr/>
        </p:nvSpPr>
        <p:spPr>
          <a:xfrm>
            <a:off x="6217920" y="1554480"/>
            <a:ext cx="5120640" cy="420624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/>
        </p:spPr>
      </p:sp>
      <p:sp>
        <p:nvSpPr>
          <p:cNvPr id="15" name="checklist head 2"/>
          <p:cNvSpPr txBox="1"/>
          <p:nvPr/>
        </p:nvSpPr>
        <p:spPr>
          <a:xfrm>
            <a:off x="6537960" y="1828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AI 답을 받은 후</a:t>
            </a:r>
            <a:endParaRPr lang="en-US" sz="2200" dirty="0"/>
          </a:p>
        </p:txBody>
      </p:sp>
      <p:sp>
        <p:nvSpPr>
          <p:cNvPr id="16" name="check 1-0 circle"/>
          <p:cNvSpPr/>
          <p:nvPr/>
        </p:nvSpPr>
        <p:spPr>
          <a:xfrm>
            <a:off x="6537960" y="2606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check 1-0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2726741"/>
            <a:ext cx="261518" cy="261518"/>
          </a:xfrm>
          <a:prstGeom prst="rect">
            <a:avLst/>
          </a:prstGeom>
        </p:spPr>
      </p:pic>
      <p:sp>
        <p:nvSpPr>
          <p:cNvPr id="18" name="checklist item 1-0"/>
          <p:cNvSpPr txBox="1"/>
          <p:nvPr/>
        </p:nvSpPr>
        <p:spPr>
          <a:xfrm>
            <a:off x="7223760" y="251460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법령 조항과 기준 수치를 원문으로 확인했다</a:t>
            </a:r>
            <a:endParaRPr lang="en-US" sz="1600" dirty="0"/>
          </a:p>
        </p:txBody>
      </p:sp>
      <p:sp>
        <p:nvSpPr>
          <p:cNvPr id="19" name="check 1-1 circle"/>
          <p:cNvSpPr/>
          <p:nvPr/>
        </p:nvSpPr>
        <p:spPr>
          <a:xfrm>
            <a:off x="6537960" y="35661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check 1-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661" y="3686861"/>
            <a:ext cx="261518" cy="261518"/>
          </a:xfrm>
          <a:prstGeom prst="rect">
            <a:avLst/>
          </a:prstGeom>
        </p:spPr>
      </p:pic>
      <p:sp>
        <p:nvSpPr>
          <p:cNvPr id="21" name="checklist item 1-1"/>
          <p:cNvSpPr txBox="1"/>
          <p:nvPr/>
        </p:nvSpPr>
        <p:spPr>
          <a:xfrm>
            <a:off x="7223760" y="347472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출처 없는 통계는 지우거나 바꿨다</a:t>
            </a:r>
            <a:endParaRPr lang="en-US" sz="1600" dirty="0"/>
          </a:p>
        </p:txBody>
      </p:sp>
      <p:sp>
        <p:nvSpPr>
          <p:cNvPr id="22" name="check 1-2 circle"/>
          <p:cNvSpPr/>
          <p:nvPr/>
        </p:nvSpPr>
        <p:spPr>
          <a:xfrm>
            <a:off x="6537960" y="45262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check 1-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8661" y="4646981"/>
            <a:ext cx="261518" cy="261518"/>
          </a:xfrm>
          <a:prstGeom prst="rect">
            <a:avLst/>
          </a:prstGeom>
        </p:spPr>
      </p:pic>
      <p:sp>
        <p:nvSpPr>
          <p:cNvPr id="24" name="checklist item 1-2"/>
          <p:cNvSpPr txBox="1"/>
          <p:nvPr/>
        </p:nvSpPr>
        <p:spPr>
          <a:xfrm>
            <a:off x="7223760" y="443484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우리 학교 서식·일정에 맞게 고쳤다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hool Meal Green">
  <a:themeElements>
    <a:clrScheme name="School Meal Green">
      <a:dk1>
        <a:srgbClr val="1F2A24"/>
      </a:dk1>
      <a:lt1>
        <a:srgbClr val="FFFFFF"/>
      </a:lt1>
      <a:dk2>
        <a:srgbClr val="1E5C3A"/>
      </a:dk2>
      <a:lt2>
        <a:srgbClr val="EEF5F0"/>
      </a:lt2>
      <a:accent1>
        <a:srgbClr val="1E5C3A"/>
      </a:accent1>
      <a:accent2>
        <a:srgbClr val="E8792B"/>
      </a:accent2>
      <a:accent3>
        <a:srgbClr val="5E9C76"/>
      </a:accent3>
      <a:accent4>
        <a:srgbClr val="C0392B"/>
      </a:accent4>
      <a:accent5>
        <a:srgbClr val="FDF1E6"/>
      </a:accent5>
      <a:accent6>
        <a:srgbClr val="6B7570"/>
      </a:accent6>
      <a:hlink>
        <a:srgbClr val="1E5C3A"/>
      </a:hlink>
      <a:folHlink>
        <a:srgbClr val="5E9C76"/>
      </a:folHlink>
    </a:clrScheme>
    <a:fontScheme name="School Meal Green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영양교사를 위한 AI 공문서 작성 프롬프트</dc:title>
  <dc:subject>PptxGenJS Presentation</dc:subject>
  <dc:creator>PptxGenJS</dc:creator>
  <cp:lastModifiedBy>PptxGenJS</cp:lastModifiedBy>
  <cp:revision>1</cp:revision>
  <dcterms:created xsi:type="dcterms:W3CDTF">2026-10-27T15:17:30Z</dcterms:created>
  <dcterms:modified xsi:type="dcterms:W3CDTF">2026-10-27T15:17:30Z</dcterms:modified>
</cp:coreProperties>
</file>