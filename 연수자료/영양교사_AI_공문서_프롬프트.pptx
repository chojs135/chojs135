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계획서는 기간, 포함 항목, 문체를 정해 주는 것이 핵심입니다. 예산·인원 같은 숫자는 AI가 지어낼 수 있으니 직접 채워 넣으세요.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가정통신문은 주제, 톤, 구성 순서를 정해 주면 바로 쓸 만한 초안이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회의록은 실제 회의 메모를 함께 붙여 넣으면 더 정확합니다. 메모 없이 시키면 AI가 발언 내용을 지어낼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 입력한 내용은 외부 서버로 전송됩니다. 법령 조항이나 영양 기준 수치는 AI가 그럴듯하게 틀릴 수 있으니 원문으로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MP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514600"/>
            <a:ext cx="3291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eaLnBrk="0"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eaLnBrk="0"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kicker"/>
          <p:cNvSpPr txBox="1"/>
          <p:nvPr/>
        </p:nvSpPr>
        <p:spPr>
          <a:xfrm>
            <a:off x="731520" y="1463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영양교사</a:t>
            </a:r>
            <a:endParaRPr lang="en-US" sz="2200" dirty="0"/>
          </a:p>
        </p:txBody>
      </p:sp>
      <p:sp>
        <p:nvSpPr>
          <p:cNvPr id="3" name="cover title"/>
          <p:cNvSpPr txBox="1"/>
          <p:nvPr/>
        </p:nvSpPr>
        <p:spPr>
          <a:xfrm>
            <a:off x="731520" y="2103120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 공문서 작성</a:t>
            </a:r>
            <a:endParaRPr lang="en-US" sz="4800" dirty="0"/>
          </a:p>
          <a:p>
            <a:pPr eaLnBrk="0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프롬프트 예시</a:t>
            </a:r>
            <a:endParaRPr lang="en-US" sz="4800" dirty="0"/>
          </a:p>
        </p:txBody>
      </p:sp>
      <p:sp>
        <p:nvSpPr>
          <p:cNvPr id="4" name="cover subtitle"/>
          <p:cNvSpPr txBox="1"/>
          <p:nvPr/>
        </p:nvSpPr>
        <p:spPr>
          <a:xfrm>
            <a:off x="731520" y="4480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계획서 · 가정통신문 · 회의록</a:t>
            </a:r>
            <a:endParaRPr lang="en-US" sz="2000" dirty="0"/>
          </a:p>
        </p:txBody>
      </p:sp>
      <p:sp>
        <p:nvSpPr>
          <p:cNvPr id="5" name="bubble 1"/>
          <p:cNvSpPr/>
          <p:nvPr/>
        </p:nvSpPr>
        <p:spPr>
          <a:xfrm>
            <a:off x="7589520" y="1554480"/>
            <a:ext cx="3931920" cy="777240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/>
        </p:spPr>
      </p:sp>
      <p:sp>
        <p:nvSpPr>
          <p:cNvPr id="6" name="bubble 1 text"/>
          <p:cNvSpPr txBox="1"/>
          <p:nvPr/>
        </p:nvSpPr>
        <p:spPr>
          <a:xfrm>
            <a:off x="7863840" y="1554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너는 초등학교 영양교사야.</a:t>
            </a:r>
            <a:endParaRPr lang="en-US" sz="1700" dirty="0"/>
          </a:p>
        </p:txBody>
      </p:sp>
      <p:sp>
        <p:nvSpPr>
          <p:cNvPr id="7" name="bubble 2"/>
          <p:cNvSpPr/>
          <p:nvPr/>
        </p:nvSpPr>
        <p:spPr>
          <a:xfrm>
            <a:off x="6949440" y="2560320"/>
            <a:ext cx="4572000" cy="777240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/>
        </p:spPr>
      </p:sp>
      <p:sp>
        <p:nvSpPr>
          <p:cNvPr id="8" name="bubble 2 text"/>
          <p:cNvSpPr txBox="1"/>
          <p:nvPr/>
        </p:nvSpPr>
        <p:spPr>
          <a:xfrm>
            <a:off x="7223760" y="25603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가정통신문을 작성해줘.</a:t>
            </a:r>
            <a:endParaRPr lang="en-US" sz="1700" dirty="0"/>
          </a:p>
        </p:txBody>
      </p:sp>
      <p:sp>
        <p:nvSpPr>
          <p:cNvPr id="9" name="bubble 3"/>
          <p:cNvSpPr/>
          <p:nvPr/>
        </p:nvSpPr>
        <p:spPr>
          <a:xfrm>
            <a:off x="7315200" y="3749040"/>
            <a:ext cx="4206240" cy="1188720"/>
          </a:xfrm>
          <a:prstGeom prst="roundRect">
            <a:avLst>
              <a:gd name="adj" fmla="val 23077"/>
            </a:avLst>
          </a:prstGeom>
          <a:solidFill>
            <a:schemeClr val="bg1"/>
          </a:solidFill>
          <a:ln/>
        </p:spPr>
      </p:sp>
      <p:sp>
        <p:nvSpPr>
          <p:cNvPr id="10" name="bubble 3 text"/>
          <p:cNvSpPr txBox="1"/>
          <p:nvPr/>
        </p:nvSpPr>
        <p:spPr>
          <a:xfrm>
            <a:off x="7589520" y="3749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네! 따뜻하고 친근한 톤으로</a:t>
            </a:r>
            <a:endParaRPr lang="en-US" sz="1700" dirty="0"/>
          </a:p>
          <a:p>
            <a:pPr eaLnBrk="0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초안을 작성해 드릴게요.</a:t>
            </a:r>
            <a:endParaRPr lang="en-US" sz="1700" dirty="0"/>
          </a:p>
        </p:txBody>
      </p:sp>
      <p:sp>
        <p:nvSpPr>
          <p:cNvPr id="11" name="ai avatar"/>
          <p:cNvSpPr/>
          <p:nvPr/>
        </p:nvSpPr>
        <p:spPr>
          <a:xfrm>
            <a:off x="6766560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ai avata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4187952"/>
            <a:ext cx="265176" cy="265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 txBox="1"/>
          <p:nvPr/>
        </p:nvSpPr>
        <p:spPr>
          <a:xfrm>
            <a:off x="548640" y="6400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5146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식생활·영양교육</a:t>
            </a:r>
            <a:endParaRPr lang="en-US" sz="3000" dirty="0"/>
          </a:p>
          <a:p>
            <a:pPr eaLnBrk="0"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계획서 작성</a:t>
            </a:r>
            <a:endParaRPr lang="en-US" sz="3000" dirty="0"/>
          </a:p>
        </p:txBody>
      </p:sp>
      <p:sp>
        <p:nvSpPr>
          <p:cNvPr id="4" name="category icon circle"/>
          <p:cNvSpPr/>
          <p:nvPr/>
        </p:nvSpPr>
        <p:spPr>
          <a:xfrm>
            <a:off x="548640" y="5029200"/>
            <a:ext cx="868680" cy="8686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categor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0368"/>
            <a:ext cx="466344" cy="466344"/>
          </a:xfrm>
          <a:prstGeom prst="rect">
            <a:avLst/>
          </a:prstGeom>
        </p:spPr>
      </p:pic>
      <p:sp>
        <p:nvSpPr>
          <p:cNvPr id="6" name="prompt label"/>
          <p:cNvSpPr txBox="1"/>
          <p:nvPr/>
        </p:nvSpPr>
        <p:spPr>
          <a:xfrm>
            <a:off x="4846320" y="685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프롬프트 예시</a:t>
            </a:r>
            <a:endParaRPr lang="en-US" sz="1600" dirty="0"/>
          </a:p>
        </p:txBody>
      </p:sp>
      <p:sp>
        <p:nvSpPr>
          <p:cNvPr id="7" name="prompt bubble"/>
          <p:cNvSpPr/>
          <p:nvPr/>
        </p:nvSpPr>
        <p:spPr>
          <a:xfrm>
            <a:off x="4846320" y="1280160"/>
            <a:ext cx="6766560" cy="4206240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17382B">
                <a:alpha val="12000"/>
              </a:srgbClr>
            </a:outerShdw>
          </a:effectLst>
        </p:spPr>
      </p:sp>
      <p:sp>
        <p:nvSpPr>
          <p:cNvPr id="8" name="prompt text"/>
          <p:cNvSpPr txBox="1"/>
          <p:nvPr/>
        </p:nvSpPr>
        <p:spPr>
          <a:xfrm>
            <a:off x="5257800" y="1600200"/>
            <a:ext cx="5943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너는 초등학교 영양교사야. </a:t>
            </a:r>
            <a:pPr eaLnBrk="0"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2026년 5월</a:t>
            </a:r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 '채소 섭취 늘리기 주간' 운영 계획서 초안을 작성해줘. 포함될 내용은 </a:t>
            </a:r>
            <a:pPr eaLnBrk="0"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운영 목적, 기간, 주요 활동(잔반 줄이기 이벤트, 영양퀴즈), 가정 연계 방안</a:t>
            </a:r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이야. 공문서 스타일의 격식 있는 문체로 작성해줘.</a:t>
            </a:r>
            <a:endParaRPr lang="en-US" sz="2200" dirty="0"/>
          </a:p>
        </p:txBody>
      </p:sp>
      <p:pic>
        <p:nvPicPr>
          <p:cNvPr id="9" name="hi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833872"/>
            <a:ext cx="256032" cy="256032"/>
          </a:xfrm>
          <a:prstGeom prst="rect">
            <a:avLst/>
          </a:prstGeom>
        </p:spPr>
      </p:pic>
      <p:sp>
        <p:nvSpPr>
          <p:cNvPr id="10" name="hint"/>
          <p:cNvSpPr txBox="1"/>
          <p:nvPr/>
        </p:nvSpPr>
        <p:spPr>
          <a:xfrm>
            <a:off x="5257800" y="5760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주황색 부분</a:t>
            </a:r>
            <a:pPr eaLnBrk="0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만 우리 학교 상황에 맞게 바꿔서 쓰세요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 txBox="1"/>
          <p:nvPr/>
        </p:nvSpPr>
        <p:spPr>
          <a:xfrm>
            <a:off x="548640" y="6400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5146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가정통신문</a:t>
            </a:r>
            <a:endParaRPr lang="en-US" sz="3000" dirty="0"/>
          </a:p>
          <a:p>
            <a:pPr eaLnBrk="0"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작성</a:t>
            </a:r>
            <a:endParaRPr lang="en-US" sz="3000" dirty="0"/>
          </a:p>
        </p:txBody>
      </p:sp>
      <p:sp>
        <p:nvSpPr>
          <p:cNvPr id="4" name="category icon circle"/>
          <p:cNvSpPr/>
          <p:nvPr/>
        </p:nvSpPr>
        <p:spPr>
          <a:xfrm>
            <a:off x="548640" y="5029200"/>
            <a:ext cx="868680" cy="8686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categor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0368"/>
            <a:ext cx="466344" cy="466344"/>
          </a:xfrm>
          <a:prstGeom prst="rect">
            <a:avLst/>
          </a:prstGeom>
        </p:spPr>
      </p:pic>
      <p:sp>
        <p:nvSpPr>
          <p:cNvPr id="6" name="prompt label"/>
          <p:cNvSpPr txBox="1"/>
          <p:nvPr/>
        </p:nvSpPr>
        <p:spPr>
          <a:xfrm>
            <a:off x="4846320" y="685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프롬프트 예시</a:t>
            </a:r>
            <a:endParaRPr lang="en-US" sz="1600" dirty="0"/>
          </a:p>
        </p:txBody>
      </p:sp>
      <p:sp>
        <p:nvSpPr>
          <p:cNvPr id="7" name="prompt bubble"/>
          <p:cNvSpPr/>
          <p:nvPr/>
        </p:nvSpPr>
        <p:spPr>
          <a:xfrm>
            <a:off x="4846320" y="1280160"/>
            <a:ext cx="6766560" cy="4206240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17382B">
                <a:alpha val="12000"/>
              </a:srgbClr>
            </a:outerShdw>
          </a:effectLst>
        </p:spPr>
      </p:sp>
      <p:sp>
        <p:nvSpPr>
          <p:cNvPr id="8" name="prompt text"/>
          <p:cNvSpPr txBox="1"/>
          <p:nvPr/>
        </p:nvSpPr>
        <p:spPr>
          <a:xfrm>
            <a:off x="5257800" y="1600200"/>
            <a:ext cx="5943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학부모에게 발송할 가정통신문을 작성해줘. 주제는 </a:t>
            </a:r>
            <a:pPr eaLnBrk="0"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편식 예방을 위한 영양교육 안내</a:t>
            </a:r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이고, 톤은 </a:t>
            </a:r>
            <a:pPr eaLnBrk="0"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따뜻하고 친근하면서도 전문성 있는</a:t>
            </a:r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 느낌으로 해줘. 구성은 </a:t>
            </a:r>
            <a:pPr eaLnBrk="0"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인사말 → 편식의 문제점 → 가정 내 지도 방법 → 마무리 인사</a:t>
            </a:r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 순서로 3문단 내외로 요약해줘.</a:t>
            </a:r>
            <a:endParaRPr lang="en-US" sz="2200" dirty="0"/>
          </a:p>
        </p:txBody>
      </p:sp>
      <p:pic>
        <p:nvPicPr>
          <p:cNvPr id="9" name="hi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833872"/>
            <a:ext cx="256032" cy="256032"/>
          </a:xfrm>
          <a:prstGeom prst="rect">
            <a:avLst/>
          </a:prstGeom>
        </p:spPr>
      </p:pic>
      <p:sp>
        <p:nvSpPr>
          <p:cNvPr id="10" name="hint"/>
          <p:cNvSpPr txBox="1"/>
          <p:nvPr/>
        </p:nvSpPr>
        <p:spPr>
          <a:xfrm>
            <a:off x="5257800" y="5760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주황색 부분</a:t>
            </a:r>
            <a:pPr eaLnBrk="0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만 우리 학교 상황에 맞게 바꿔서 쓰세요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 txBox="1"/>
          <p:nvPr/>
        </p:nvSpPr>
        <p:spPr>
          <a:xfrm>
            <a:off x="548640" y="6400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5146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학교급식소위원회</a:t>
            </a:r>
            <a:endParaRPr lang="en-US" sz="3000" dirty="0"/>
          </a:p>
          <a:p>
            <a:pPr eaLnBrk="0"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회의록 초안</a:t>
            </a:r>
            <a:endParaRPr lang="en-US" sz="3000" dirty="0"/>
          </a:p>
        </p:txBody>
      </p:sp>
      <p:sp>
        <p:nvSpPr>
          <p:cNvPr id="4" name="category icon circle"/>
          <p:cNvSpPr/>
          <p:nvPr/>
        </p:nvSpPr>
        <p:spPr>
          <a:xfrm>
            <a:off x="548640" y="5029200"/>
            <a:ext cx="868680" cy="8686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categor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0368"/>
            <a:ext cx="466344" cy="466344"/>
          </a:xfrm>
          <a:prstGeom prst="rect">
            <a:avLst/>
          </a:prstGeom>
        </p:spPr>
      </p:pic>
      <p:sp>
        <p:nvSpPr>
          <p:cNvPr id="6" name="prompt label"/>
          <p:cNvSpPr txBox="1"/>
          <p:nvPr/>
        </p:nvSpPr>
        <p:spPr>
          <a:xfrm>
            <a:off x="4846320" y="685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프롬프트 예시</a:t>
            </a:r>
            <a:endParaRPr lang="en-US" sz="1600" dirty="0"/>
          </a:p>
        </p:txBody>
      </p:sp>
      <p:sp>
        <p:nvSpPr>
          <p:cNvPr id="7" name="prompt bubble"/>
          <p:cNvSpPr/>
          <p:nvPr/>
        </p:nvSpPr>
        <p:spPr>
          <a:xfrm>
            <a:off x="4846320" y="1280160"/>
            <a:ext cx="6766560" cy="4206240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17382B">
                <a:alpha val="12000"/>
              </a:srgbClr>
            </a:outerShdw>
          </a:effectLst>
        </p:spPr>
      </p:sp>
      <p:sp>
        <p:nvSpPr>
          <p:cNvPr id="8" name="prompt text"/>
          <p:cNvSpPr txBox="1"/>
          <p:nvPr/>
        </p:nvSpPr>
        <p:spPr>
          <a:xfrm>
            <a:off x="5257800" y="1600200"/>
            <a:ext cx="5943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학교급식소위원회 회의록 초안을 만들어줘. 안건은 </a:t>
            </a:r>
            <a:pPr eaLnBrk="0"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1. 2학기 학교급식 식재료 납품업체 평가 결과 보고, 2. 영양·식생활교육 활성화 방안</a:t>
            </a:r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이야. 참석자는 </a:t>
            </a:r>
            <a:pPr eaLnBrk="0"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위원장, 영양교사, 학부모위원 3명</a:t>
            </a:r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이고 결정된 주요 내용은 </a:t>
            </a:r>
            <a:pPr eaLnBrk="0"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원안 동의</a:t>
            </a:r>
            <a:pPr eaLnBrk="0"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야.</a:t>
            </a:r>
            <a:endParaRPr lang="en-US" sz="2200" dirty="0"/>
          </a:p>
        </p:txBody>
      </p:sp>
      <p:pic>
        <p:nvPicPr>
          <p:cNvPr id="9" name="hi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833872"/>
            <a:ext cx="256032" cy="256032"/>
          </a:xfrm>
          <a:prstGeom prst="rect">
            <a:avLst/>
          </a:prstGeom>
        </p:spPr>
      </p:pic>
      <p:sp>
        <p:nvSpPr>
          <p:cNvPr id="10" name="hint"/>
          <p:cNvSpPr txBox="1"/>
          <p:nvPr/>
        </p:nvSpPr>
        <p:spPr>
          <a:xfrm>
            <a:off x="5257800" y="5760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주황색 부분</a:t>
            </a:r>
            <a:pPr eaLnBrk="0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만 우리 학교 상황에 맞게 바꿔서 쓰세요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공문서 AI 활용 시 유의사항</a:t>
            </a:r>
            <a:endParaRPr lang="en-US" sz="3400" dirty="0"/>
          </a:p>
        </p:txBody>
      </p:sp>
      <p:sp>
        <p:nvSpPr>
          <p:cNvPr id="3" name="caution card 1"/>
          <p:cNvSpPr/>
          <p:nvPr/>
        </p:nvSpPr>
        <p:spPr>
          <a:xfrm>
            <a:off x="640080" y="1737360"/>
            <a:ext cx="3429000" cy="4343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7382B">
                <a:alpha val="10000"/>
              </a:srgbClr>
            </a:outerShdw>
          </a:effectLst>
        </p:spPr>
      </p:sp>
      <p:sp>
        <p:nvSpPr>
          <p:cNvPr id="4" name="caution icon circle 1"/>
          <p:cNvSpPr/>
          <p:nvPr/>
        </p:nvSpPr>
        <p:spPr>
          <a:xfrm>
            <a:off x="1005840" y="21488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caution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77440"/>
            <a:ext cx="411480" cy="411480"/>
          </a:xfrm>
          <a:prstGeom prst="rect">
            <a:avLst/>
          </a:prstGeom>
        </p:spPr>
      </p:pic>
      <p:sp>
        <p:nvSpPr>
          <p:cNvPr id="6" name="caution number 1"/>
          <p:cNvSpPr txBox="1"/>
          <p:nvPr/>
        </p:nvSpPr>
        <p:spPr>
          <a:xfrm>
            <a:off x="2880360" y="2148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01</a:t>
            </a:r>
            <a:endParaRPr lang="en-US" sz="2400" dirty="0"/>
          </a:p>
        </p:txBody>
      </p:sp>
      <p:sp>
        <p:nvSpPr>
          <p:cNvPr id="7" name="caution title 1"/>
          <p:cNvSpPr txBox="1"/>
          <p:nvPr/>
        </p:nvSpPr>
        <p:spPr>
          <a:xfrm>
            <a:off x="1005840" y="32461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개인정보 및</a:t>
            </a:r>
            <a:endParaRPr lang="en-US" sz="2200" dirty="0"/>
          </a:p>
          <a:p>
            <a:pPr eaLnBrk="0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내부 기밀 제외</a:t>
            </a:r>
            <a:endParaRPr lang="en-US" sz="2200" dirty="0"/>
          </a:p>
        </p:txBody>
      </p:sp>
      <p:sp>
        <p:nvSpPr>
          <p:cNvPr id="8" name="caution body 1"/>
          <p:cNvSpPr txBox="1"/>
          <p:nvPr/>
        </p:nvSpPr>
        <p:spPr>
          <a:xfrm>
            <a:off x="1005840" y="4343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학생 이름, 교직원 실명, 특정 업체명, 내부 결재 라인 등은 반드시 익명 처리</a:t>
            </a:r>
            <a:endParaRPr lang="en-US" sz="1600" dirty="0"/>
          </a:p>
        </p:txBody>
      </p:sp>
      <p:sp>
        <p:nvSpPr>
          <p:cNvPr id="9" name="caution example 1"/>
          <p:cNvSpPr txBox="1"/>
          <p:nvPr/>
        </p:nvSpPr>
        <p:spPr>
          <a:xfrm>
            <a:off x="1005840" y="5486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예) A학생, 00업체</a:t>
            </a:r>
            <a:endParaRPr lang="en-US" sz="1500" dirty="0"/>
          </a:p>
        </p:txBody>
      </p:sp>
      <p:sp>
        <p:nvSpPr>
          <p:cNvPr id="10" name="caution card 2"/>
          <p:cNvSpPr/>
          <p:nvPr/>
        </p:nvSpPr>
        <p:spPr>
          <a:xfrm>
            <a:off x="4343400" y="1737360"/>
            <a:ext cx="3429000" cy="4343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7382B">
                <a:alpha val="10000"/>
              </a:srgbClr>
            </a:outerShdw>
          </a:effectLst>
        </p:spPr>
      </p:sp>
      <p:sp>
        <p:nvSpPr>
          <p:cNvPr id="11" name="caution icon circle 2"/>
          <p:cNvSpPr/>
          <p:nvPr/>
        </p:nvSpPr>
        <p:spPr>
          <a:xfrm>
            <a:off x="4709160" y="21488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caution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377440"/>
            <a:ext cx="411480" cy="411480"/>
          </a:xfrm>
          <a:prstGeom prst="rect">
            <a:avLst/>
          </a:prstGeom>
        </p:spPr>
      </p:pic>
      <p:sp>
        <p:nvSpPr>
          <p:cNvPr id="13" name="caution number 2"/>
          <p:cNvSpPr txBox="1"/>
          <p:nvPr/>
        </p:nvSpPr>
        <p:spPr>
          <a:xfrm>
            <a:off x="6583680" y="2148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02</a:t>
            </a:r>
            <a:endParaRPr lang="en-US" sz="2400" dirty="0"/>
          </a:p>
        </p:txBody>
      </p:sp>
      <p:sp>
        <p:nvSpPr>
          <p:cNvPr id="14" name="caution title 2"/>
          <p:cNvSpPr txBox="1"/>
          <p:nvPr/>
        </p:nvSpPr>
        <p:spPr>
          <a:xfrm>
            <a:off x="4709160" y="32461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사실관계 및</a:t>
            </a:r>
            <a:endParaRPr lang="en-US" sz="2200" dirty="0"/>
          </a:p>
          <a:p>
            <a:pPr eaLnBrk="0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영양기준 검증</a:t>
            </a:r>
            <a:endParaRPr lang="en-US" sz="2200" dirty="0"/>
          </a:p>
        </p:txBody>
      </p:sp>
      <p:sp>
        <p:nvSpPr>
          <p:cNvPr id="15" name="caution body 2"/>
          <p:cNvSpPr txBox="1"/>
          <p:nvPr/>
        </p:nvSpPr>
        <p:spPr>
          <a:xfrm>
            <a:off x="4709160" y="4343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식단 영양량, 관련 법령(학교급식법 등), 조리·위생 지침은 영양교사가 직접 재확인</a:t>
            </a:r>
            <a:endParaRPr lang="en-US" sz="1600" dirty="0"/>
          </a:p>
        </p:txBody>
      </p:sp>
      <p:sp>
        <p:nvSpPr>
          <p:cNvPr id="16" name="caution card 3"/>
          <p:cNvSpPr/>
          <p:nvPr/>
        </p:nvSpPr>
        <p:spPr>
          <a:xfrm>
            <a:off x="8046720" y="1737360"/>
            <a:ext cx="3429000" cy="4343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7382B">
                <a:alpha val="10000"/>
              </a:srgbClr>
            </a:outerShdw>
          </a:effectLst>
        </p:spPr>
      </p:sp>
      <p:sp>
        <p:nvSpPr>
          <p:cNvPr id="17" name="caution icon circle 3"/>
          <p:cNvSpPr/>
          <p:nvPr/>
        </p:nvSpPr>
        <p:spPr>
          <a:xfrm>
            <a:off x="8412480" y="21488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caution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377440"/>
            <a:ext cx="411480" cy="411480"/>
          </a:xfrm>
          <a:prstGeom prst="rect">
            <a:avLst/>
          </a:prstGeom>
        </p:spPr>
      </p:pic>
      <p:sp>
        <p:nvSpPr>
          <p:cNvPr id="19" name="caution number 3"/>
          <p:cNvSpPr txBox="1"/>
          <p:nvPr/>
        </p:nvSpPr>
        <p:spPr>
          <a:xfrm>
            <a:off x="10287000" y="2148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03</a:t>
            </a:r>
            <a:endParaRPr lang="en-US" sz="2400" dirty="0"/>
          </a:p>
        </p:txBody>
      </p:sp>
      <p:sp>
        <p:nvSpPr>
          <p:cNvPr id="20" name="caution title 3"/>
          <p:cNvSpPr txBox="1"/>
          <p:nvPr/>
        </p:nvSpPr>
        <p:spPr>
          <a:xfrm>
            <a:off x="8412480" y="32461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초안 활용 및</a:t>
            </a:r>
            <a:endParaRPr lang="en-US" sz="2200" dirty="0"/>
          </a:p>
          <a:p>
            <a:pPr eaLnBrk="0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수정</a:t>
            </a:r>
            <a:endParaRPr lang="en-US" sz="2200" dirty="0"/>
          </a:p>
        </p:txBody>
      </p:sp>
      <p:sp>
        <p:nvSpPr>
          <p:cNvPr id="21" name="caution body 3"/>
          <p:cNvSpPr txBox="1"/>
          <p:nvPr/>
        </p:nvSpPr>
        <p:spPr>
          <a:xfrm>
            <a:off x="8412480" y="4343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AI는 뼈대(초안)를 잡는 보조 도구, 학교 현장에 맞게 다듬어 공문서로 완성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line 1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AI는 초안까지,</a:t>
            </a:r>
            <a:endParaRPr lang="en-US" sz="4400" dirty="0"/>
          </a:p>
        </p:txBody>
      </p:sp>
      <p:sp>
        <p:nvSpPr>
          <p:cNvPr id="3" name="closing line 2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완성은 영양교사의 손에서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utrition Teacher AI">
  <a:themeElements>
    <a:clrScheme name="Nutrition Teacher AI">
      <a:dk1>
        <a:srgbClr val="1B2420"/>
      </a:dk1>
      <a:lt1>
        <a:srgbClr val="FFFFFF"/>
      </a:lt1>
      <a:dk2>
        <a:srgbClr val="17382B"/>
      </a:dk2>
      <a:lt2>
        <a:srgbClr val="F2F5F3"/>
      </a:lt2>
      <a:accent1>
        <a:srgbClr val="17382B"/>
      </a:accent1>
      <a:accent2>
        <a:srgbClr val="F26B1D"/>
      </a:accent2>
      <a:accent3>
        <a:srgbClr val="2F6B4F"/>
      </a:accent3>
      <a:accent4>
        <a:srgbClr val="FFE6D5"/>
      </a:accent4>
      <a:accent5>
        <a:srgbClr val="C9D8CF"/>
      </a:accent5>
      <a:accent6>
        <a:srgbClr val="6E7A74"/>
      </a:accent6>
      <a:hlink>
        <a:srgbClr val="2F6B4F"/>
      </a:hlink>
      <a:folHlink>
        <a:srgbClr val="2F6B4F"/>
      </a:folHlink>
    </a:clrScheme>
    <a:fontScheme name="Nutrition Teacher AI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영양교사 AI 공문서 작성 프롬프트 예시</dc:title>
  <dc:subject>PptxGenJS Presentation</dc:subject>
  <dc:creator>PptxGenJS</dc:creator>
  <cp:lastModifiedBy>PptxGenJS</cp:lastModifiedBy>
  <cp:revision>1</cp:revision>
  <dcterms:created xsi:type="dcterms:W3CDTF">2026-10-27T15:32:35Z</dcterms:created>
  <dcterms:modified xsi:type="dcterms:W3CDTF">2026-10-27T15:32:35Z</dcterms:modified>
</cp:coreProperties>
</file>